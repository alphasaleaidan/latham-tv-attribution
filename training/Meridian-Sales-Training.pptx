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is about making you dangerous on the floor: what Meridian is in one sentence, why owners can't say no, exactly who to walk into, and word-for-word answers to every objection. By the end you should be able to pitch it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sentence you lead with. Say it slowly. Two data sources — the register and the cameras — joined by AI, delivered through a website. Then land the killer detail: no hardware. Owners brace for an install; there isn't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POS = the numbers. Cameras = the behavior. Fusion is the magic and our moat — it answers questions a bookkeeper never could, like why more people came in but sales stayed flat. Always end on Fusion; it's what nobody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reasons, but the first one carries the sale: it finds money. Everything else — visibility, low price, easy setup, prediction, no risk — removes a reason to say no. Lead with money found, close with zero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the gap, not the software. Get the owner to admit they're in the left column — 'do you know your most profitable hour?' — then paint the right column. People buy the transformation, not the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objection kills momentum if you let it sit. The moment they say 'oh, like the AI that answers phones' — correct it immediately with the one-liner. Meridian never talks to a customer. It's a lens on the business, not a voice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recite all eight. Pick the two that hit this owner: a busy cafe cares about wait time and peak hours; a boutique cares about walkouts and dwell. The dashboard is their language — show them their number, not a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Fusion is the answer to 'I already track my sales.' Sales tracking is one column. Fusion connects two worlds — how many came in vs. how many bought. Rehearse the 23%-traffic example until it's automatic; it wins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verticals convert because they're high-traffic and margin-sensitive. The single best qualifying line: 'Do you know which hours make you the most money?' If they hesitate, they're a buyer. Chase volume + thin margins + an owner who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price against what they recover, never in a vacuum. $250 sounds like a cost until it sits next to $2,000 found. And the 'money left on the table' score is your emotional hook — a single dollar figure they can't un-see.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Standard — it's the value plan and it's where the free-camera hook lives. Use the assumptive close: don't ask if, ask 'monthly or weekly?' The first-50-free camera offer is your urgency lever; it's genuinely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come up on almost every call. Answer them before they're asked and you look like a pro. The theme running through all of them: no hardware, no contract, no risk, and we'll prove it with your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argue price — reframe to ROI. Never argue 'we track sales' — out-specific them with margins, hours and upsell-by-employee. 'Let me think about it' is a hidden objection: ask what's really behind it, then remove the risk with a free trial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fear — remove the work entirely; you do it, they watch. Data fear is the biggest one: hammer read-only and no-video-stored, it's true and it disarms them. Partner stall — arm them with the proposal and set a concrete follow-up so it doesn't 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what loses or wins the connect step. Say read-only before they worry about it. The Google-Doc analogy is the single most effective line we have — everyone understands view-only access. No video stored closes the camera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things that win: the one-liner, the not-a-phone-agent correction, selling money-found over price, and disarming on trust early. Then get them role-playing — reps learn this by saying it out loud, not by hearing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7.png"/><Relationship Id="rId9" Type="http://schemas.openxmlformats.org/officeDocument/2006/relationships/image" Target="../media/image-6-7.png"/><Relationship Id="rId10" Type="http://schemas.openxmlformats.org/officeDocument/2006/relationships/image" Target="../media/image-6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image" Target="../media/image-11-1.png"/><Relationship Id="rId9" Type="http://schemas.openxmlformats.org/officeDocument/2006/relationships/image" Target="../media/image-11-1.png"/><Relationship Id="rId10" Type="http://schemas.openxmlformats.org/officeDocument/2006/relationships/image" Target="../media/image-11-1.png"/><Relationship Id="rId11" Type="http://schemas.openxmlformats.org/officeDocument/2006/relationships/image" Target="../media/image-11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2331720"/>
            <a:ext cx="1554480" cy="1554480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011412" y="1787652"/>
            <a:ext cx="2642616" cy="2642616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389620" y="1165860"/>
            <a:ext cx="3886200" cy="3886200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277856" y="30540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423160"/>
            <a:ext cx="1371600" cy="13716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7" name="Image 0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820" y="27660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0515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  ·  SALES REP TRAINING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" y="155448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Machine That</a:t>
            </a:r>
            <a:endParaRPr lang="en-US" sz="50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Money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explain what Meridian is, why owners need it, who it's for, and how to answer every question and objection you'll hear on the floor.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5029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Intelligence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880360" y="5029200"/>
            <a:ext cx="2116836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80360" y="5029200"/>
            <a:ext cx="211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25796" y="5029200"/>
            <a:ext cx="2116836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25796" y="5029200"/>
            <a:ext cx="211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Intelligence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 ·  Everything through meridian.tips  ·  Set up in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ONE-LINER — MEMORIZE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Meridian?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2148840"/>
          </a:xfrm>
          <a:prstGeom prst="roundRect">
            <a:avLst>
              <a:gd name="adj" fmla="val 5106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9509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connects to your </a:t>
            </a:r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register</a:t>
            </a:r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your </a:t>
            </a:r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a website, then uses </a:t>
            </a:r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show you exactly where your business is losing money — and how to fix it.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96696" y="449427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9" name="Image 0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470458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448056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Intelligence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965960" y="4864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register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0832" y="429768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27448" y="4494276"/>
            <a:ext cx="841248" cy="84124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14" name="Image 1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70458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96712" y="448056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696712" y="4864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room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01584" y="429768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4494276"/>
            <a:ext cx="841248" cy="84124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19" name="Image 2" descr="/tmp/claude-0/-home-user-latham-tv-attribution/4810c7d6-79b4-53d1-9640-995cfff5f529/scratchpad/build/icons/fu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470458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27464" y="448056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Intelligence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427464" y="4864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hardware.  </a:t>
            </a:r>
            <a:pPr algn="l"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boxes, no dongles, no installs — the POS connection, the cameras, and the analytics all happen through the Meridian website.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38728" cy="41605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42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7944" y="2125980"/>
            <a:ext cx="1143000" cy="1143000"/>
          </a:xfrm>
          <a:prstGeom prst="ellipse">
            <a:avLst/>
          </a:prstGeom>
          <a:solidFill>
            <a:srgbClr val="0E9E70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6" name="Image 0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694" y="2411730"/>
            <a:ext cx="571500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Intelligence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24128" y="3867912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register — Square, Clover, Toast — through the website. AI surfaces busiest hours, best-sellers, items losing money, and staffing gaps.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97280" y="5285232"/>
            <a:ext cx="2624328" cy="438912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5285232"/>
            <a:ext cx="2624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CFO watching 24/7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07992" y="1783080"/>
            <a:ext cx="3538728" cy="41605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42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05856" y="2125980"/>
            <a:ext cx="1143000" cy="1143000"/>
          </a:xfrm>
          <a:prstGeom prst="ellipse">
            <a:avLst/>
          </a:prstGeom>
          <a:solidFill>
            <a:srgbClr val="0F1E3D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13" name="Image 1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606" y="2411730"/>
            <a:ext cx="571500" cy="571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82312" y="338328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892040" y="3867912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cameras they already own. Counts foot traffic, wait times, conversion, dwell and walkouts — privacy-first, no video stored.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965192" y="5285232"/>
            <a:ext cx="2624328" cy="438912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17" name="Text 13"/>
          <p:cNvSpPr/>
          <p:nvPr/>
        </p:nvSpPr>
        <p:spPr>
          <a:xfrm>
            <a:off x="4965192" y="5285232"/>
            <a:ext cx="2624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room, not just the sales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375904" y="1783080"/>
            <a:ext cx="3538728" cy="41605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428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73768" y="2125980"/>
            <a:ext cx="1143000" cy="114300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20" name="Image 2" descr="/tmp/claude-0/-home-user-latham-tv-attribution/4810c7d6-79b4-53d1-9640-995cfff5f529/scratchpad/build/icons/fu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518" y="2411730"/>
            <a:ext cx="571500" cy="5715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50224" y="338328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Intelligence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759952" y="3867912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camera data combined — insight neither source can give alone. “Traffic up 23% but revenue flat? Your conversion dropped.”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833104" y="5285232"/>
            <a:ext cx="2624328" cy="438912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24" name="Text 19"/>
          <p:cNvSpPr/>
          <p:nvPr/>
        </p:nvSpPr>
        <p:spPr>
          <a:xfrm>
            <a:off x="8833104" y="5285232"/>
            <a:ext cx="2624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no competitor has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TO A BUSINESS OWNER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Owners Can’t Say 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4825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6" name="Image 0" descr="/tmp/claude-0/-home-user-latham-tv-attribution/4810c7d6-79b4-53d1-9640-995cfff5f529/scratchpad/build/icons/s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585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93392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real money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20240" y="235915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clients uncover $2,000+ in missing revenue in the first month — leaks they couldn’t see before.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18504" y="182880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048256"/>
            <a:ext cx="841248" cy="841248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1" name="Image 1" descr="/tmp/claude-0/-home-user-latham-tv-attribution/4810c7d6-79b4-53d1-9640-995cfff5f529/scratchpad/build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585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8664" y="1993392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finally see everything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98664" y="235915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sales, traffic and conversion — in real time, from their phone. No spreadsheets, no guessing.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10128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3529584"/>
            <a:ext cx="841248" cy="84124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16" name="Image 2" descr="/tmp/claude-0/-home-user-latham-tv-attribution/4810c7d6-79b4-53d1-9640-995cfff5f529/scratchpad/build/icons/trend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3989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47472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tools, indie price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920240" y="38404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analytics Starbucks, McDonald’s and Walmart run — at a fraction of the cost.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18504" y="3310128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529584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1" name="Image 3" descr="/tmp/claude-0/-home-user-latham-tv-attribution/4810c7d6-79b4-53d1-9640-995cfff5f529/scratchpad/build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373989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8664" y="347472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to start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98664" y="38404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hardware, no installs. The rep sets it up in about 5 minutes. After that it’s as easy as checking Instagram.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791456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2688" y="5010912"/>
            <a:ext cx="841248" cy="841248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6" name="Image 4" descr="/tmp/claude-0/-home-user-latham-tv-attribution/4810c7d6-79b4-53d1-9640-995cfff5f529/scratchpad/build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221224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20240" y="4956048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thinks ahead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920240" y="53218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tomorrow’s sales, flags anomalies, and alerts them the moment something looks off.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18504" y="4791456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11112" y="5010912"/>
            <a:ext cx="841248" cy="84124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31" name="Image 5" descr="/tmp/claude-0/-home-user-latham-tv-attribution/4810c7d6-79b4-53d1-9640-995cfff5f529/scratchpad/build/icons/handsh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5221224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98664" y="4956048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598664" y="53218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contract. Cancel anytime with one click. If it doesn’t pay for itself, they’re out nothing.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YOU’RE SELLING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Flying Blind to Seeing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6" name="Image 0" descr="/tmp/claude-0/-home-user-latham-tv-attribution/4810c7d6-79b4-53d1-9640-995cfff5f529/scratchpad/build/icons/x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34635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MERIDIAN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542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blind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51560" y="3218688"/>
            <a:ext cx="109728" cy="109728"/>
          </a:xfrm>
          <a:prstGeom prst="ellipse">
            <a:avLst/>
          </a:prstGeom>
          <a:solidFill>
            <a:srgbClr val="EF4A5A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30998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just look at the register at the end of the day.”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51560" y="3730752"/>
            <a:ext cx="109728" cy="109728"/>
          </a:xfrm>
          <a:prstGeom prst="ellipse">
            <a:avLst/>
          </a:prstGeom>
          <a:solidFill>
            <a:srgbClr val="EF4A5A"/>
          </a:solidFill>
          <a:ln/>
        </p:spPr>
      </p:sp>
      <p:sp>
        <p:nvSpPr>
          <p:cNvPr id="12" name="Text 9"/>
          <p:cNvSpPr/>
          <p:nvPr/>
        </p:nvSpPr>
        <p:spPr>
          <a:xfrm>
            <a:off x="1325880" y="3611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accountant handles the numbers... monthly.”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51560" y="4242816"/>
            <a:ext cx="109728" cy="109728"/>
          </a:xfrm>
          <a:prstGeom prst="ellipse">
            <a:avLst/>
          </a:prstGeom>
          <a:solidFill>
            <a:srgbClr val="EF4A5A"/>
          </a:solidFill>
          <a:ln/>
        </p:spPr>
      </p:sp>
      <p:sp>
        <p:nvSpPr>
          <p:cNvPr id="14" name="Text 11"/>
          <p:cNvSpPr/>
          <p:nvPr/>
        </p:nvSpPr>
        <p:spPr>
          <a:xfrm>
            <a:off x="1325880" y="41239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how many people walk in and leave without buying.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51560" y="4754880"/>
            <a:ext cx="109728" cy="109728"/>
          </a:xfrm>
          <a:prstGeom prst="ellipse">
            <a:avLst/>
          </a:prstGeom>
          <a:solidFill>
            <a:srgbClr val="EF4A5A"/>
          </a:solidFill>
          <a:ln/>
        </p:spPr>
      </p:sp>
      <p:sp>
        <p:nvSpPr>
          <p:cNvPr id="16" name="Text 13"/>
          <p:cNvSpPr/>
          <p:nvPr/>
        </p:nvSpPr>
        <p:spPr>
          <a:xfrm>
            <a:off x="1325880" y="46360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at staffing, hours and best-sellers.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51560" y="5266944"/>
            <a:ext cx="109728" cy="109728"/>
          </a:xfrm>
          <a:prstGeom prst="ellipse">
            <a:avLst/>
          </a:prstGeom>
          <a:solidFill>
            <a:srgbClr val="EF4A5A"/>
          </a:solidFill>
          <a:ln/>
        </p:spPr>
      </p:sp>
      <p:sp>
        <p:nvSpPr>
          <p:cNvPr id="18" name="Text 15"/>
          <p:cNvSpPr/>
          <p:nvPr/>
        </p:nvSpPr>
        <p:spPr>
          <a:xfrm>
            <a:off x="1325880" y="5148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leaks nobody ever catches.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45352" y="1828800"/>
            <a:ext cx="5330952" cy="3977640"/>
          </a:xfrm>
          <a:prstGeom prst="roundRect">
            <a:avLst>
              <a:gd name="adj" fmla="val 2299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65392" y="21488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1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02" y="2346350"/>
            <a:ext cx="336499" cy="33649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34072" y="221284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MERIDIAN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434072" y="2542032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everything, live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56832" y="321868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1"/>
          <p:cNvSpPr/>
          <p:nvPr/>
        </p:nvSpPr>
        <p:spPr>
          <a:xfrm>
            <a:off x="6931152" y="3099816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of sales &amp; traffic on their phone.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56832" y="37307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3"/>
          <p:cNvSpPr/>
          <p:nvPr/>
        </p:nvSpPr>
        <p:spPr>
          <a:xfrm>
            <a:off x="6931152" y="361188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P&amp;L automatically — no waiting on anyone.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56832" y="424281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5"/>
          <p:cNvSpPr/>
          <p:nvPr/>
        </p:nvSpPr>
        <p:spPr>
          <a:xfrm>
            <a:off x="6931152" y="4123944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walkout count, and why people leave.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656832" y="47548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7"/>
          <p:cNvSpPr/>
          <p:nvPr/>
        </p:nvSpPr>
        <p:spPr>
          <a:xfrm>
            <a:off x="6931152" y="4636008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hours, best-sellers and top upsellers, ranked.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656832" y="526694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29"/>
          <p:cNvSpPr/>
          <p:nvPr/>
        </p:nvSpPr>
        <p:spPr>
          <a:xfrm>
            <a:off x="6931152" y="5148072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every leak and predicts tomorrow.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 THE #1 MISCONCEPTION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</a:t>
            </a:r>
            <a:pPr algn="l" indent="0" marL="0">
              <a:buNone/>
            </a:pPr>
            <a:r>
              <a:rPr lang="en-US" sz="3300" b="1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 another AI phone agent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hear “AI for my business” and picture a robot that answers calls or books appointments. Draw the line fast — Meridian doesn’t talk to customers, it reads your business.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2852928"/>
            <a:ext cx="749808" cy="749808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7" name="Image 0" descr="/tmp/claude-0/-home-user-latham-tv-attribution/4810c7d6-79b4-53d1-9640-995cfff5f529/scratchpad/build/icons/phone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144" y="3055376"/>
            <a:ext cx="344912" cy="344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971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agent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3355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answers calls</a:t>
            </a:r>
            <a:endParaRPr lang="en-US" sz="1250" dirty="0"/>
          </a:p>
        </p:txBody>
      </p:sp>
      <p:pic>
        <p:nvPicPr>
          <p:cNvPr id="10" name="Image 1" descr="/tmp/claude-0/-home-user-latham-tv-attribution/4810c7d6-79b4-53d1-9640-995cfff5f529/scratchpad/build/icons/x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99592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90448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callers, books appointments</a:t>
            </a:r>
            <a:endParaRPr lang="en-US" sz="1250" dirty="0"/>
          </a:p>
        </p:txBody>
      </p:sp>
      <p:pic>
        <p:nvPicPr>
          <p:cNvPr id="12" name="Image 2" descr="/tmp/claude-0/-home-user-latham-tv-attribution/4810c7d6-79b4-53d1-9640-995cfff5f529/scratchpad/build/icons/x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37997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28853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one channel: the phone</a:t>
            </a:r>
            <a:endParaRPr lang="en-US" sz="1250" dirty="0"/>
          </a:p>
        </p:txBody>
      </p:sp>
      <p:pic>
        <p:nvPicPr>
          <p:cNvPr id="14" name="Image 3" descr="/tmp/claude-0/-home-user-latham-tv-attribution/4810c7d6-79b4-53d1-9640-995cfff5f529/scratchpad/build/icons/x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76402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7258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know your margins or traffic</a:t>
            </a:r>
            <a:endParaRPr lang="en-US" sz="1250" dirty="0"/>
          </a:p>
        </p:txBody>
      </p:sp>
      <p:pic>
        <p:nvPicPr>
          <p:cNvPr id="16" name="Image 4" descr="/tmp/claude-0/-home-user-latham-tv-attribution/4810c7d6-79b4-53d1-9640-995cfff5f529/scratchpad/build/icons/x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148072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505663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tell you where money is leaking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245352" y="2514600"/>
            <a:ext cx="5330952" cy="3063240"/>
          </a:xfrm>
          <a:prstGeom prst="roundRect">
            <a:avLst>
              <a:gd name="adj" fmla="val 2985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601968" y="2852928"/>
            <a:ext cx="749808" cy="749808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0" name="Image 5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416" y="3055376"/>
            <a:ext cx="344912" cy="34491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79792" y="297180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7479792" y="335584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business intelligence platform</a:t>
            </a:r>
            <a:endParaRPr lang="en-US" sz="1250" dirty="0"/>
          </a:p>
        </p:txBody>
      </p:sp>
      <p:pic>
        <p:nvPicPr>
          <p:cNvPr id="23" name="Image 6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995928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31152" y="3904488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register AND the cameras</a:t>
            </a:r>
            <a:endParaRPr lang="en-US" sz="1250" dirty="0"/>
          </a:p>
        </p:txBody>
      </p:sp>
      <p:pic>
        <p:nvPicPr>
          <p:cNvPr id="25" name="Image 7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379976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31152" y="42885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exactly where revenue leaks</a:t>
            </a:r>
            <a:endParaRPr lang="en-US" sz="1250" dirty="0"/>
          </a:p>
        </p:txBody>
      </p:sp>
      <p:pic>
        <p:nvPicPr>
          <p:cNvPr id="27" name="Image 8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764024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31152" y="467258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traffic, conversion, margins, forecasts</a:t>
            </a:r>
            <a:endParaRPr lang="en-US" sz="1250" dirty="0"/>
          </a:p>
        </p:txBody>
      </p:sp>
      <p:pic>
        <p:nvPicPr>
          <p:cNvPr id="29" name="Image 9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148072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931152" y="505663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insight no phone bot can touch</a:t>
            </a:r>
            <a:endParaRPr lang="en-US" sz="1250" dirty="0"/>
          </a:p>
        </p:txBody>
      </p:sp>
      <p:sp>
        <p:nvSpPr>
          <p:cNvPr id="31" name="Text 19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phone agent answers your calls. Meridian watches your whole business and tells you where you’re losing money. Different job entirely.”</a:t>
            </a:r>
            <a:endParaRPr lang="en-US" sz="1400" dirty="0"/>
          </a:p>
        </p:txBody>
      </p:sp>
      <p:sp>
        <p:nvSpPr>
          <p:cNvPr id="32" name="Text 2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LANDS ON THEIR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Meridian Actually Shows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4772" y="1984248"/>
            <a:ext cx="749808" cy="74980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6" name="Image 0" descr="/tmp/claude-0/-home-user-latham-tv-attribution/4810c7d6-79b4-53d1-9640-995cfff5f529/scratchpad/build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171700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6148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Traffic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7238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“312 entered today, 187 bought.”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9584" y="18288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4276" y="1984248"/>
            <a:ext cx="749808" cy="749808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1" name="Image 1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171700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276148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94176" y="307238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vs. sales, tracked daily.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19088" y="18288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83780" y="1984248"/>
            <a:ext cx="749808" cy="749808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16" name="Image 2" descr="/tmp/claude-0/-home-user-latham-tv-attribution/4810c7d6-79b4-53d1-9640-995cfff5f529/scratchpad/build/icons/do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2171700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56248" y="276148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Walkout Detection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83680" y="307238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left without buying — and $ lost.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08592" y="18288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73284" y="1984248"/>
            <a:ext cx="749808" cy="74980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1" name="Image 3" descr="/tmp/claude-0/-home-user-latham-tv-attribution/4810c7d6-79b4-53d1-9640-995cfff5f529/scratchpad/build/icons/fi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2171700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45752" y="276148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Peak-Hours Heatmap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73184" y="307238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times by hour and weekday.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384048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04772" y="3995928"/>
            <a:ext cx="749808" cy="749808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6" name="Image 4" descr="/tmp/claude-0/-home-user-latham-tv-attribution/4810c7d6-79b4-53d1-9640-995cfff5f529/scratchpad/build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224" y="4183380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477316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&amp; Wait Time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04672" y="508406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linger, when lines build.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529584" y="384048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94276" y="3995928"/>
            <a:ext cx="749808" cy="74980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31" name="Image 5" descr="/tmp/claude-0/-home-user-latham-tv-attribution/4810c7d6-79b4-53d1-9640-995cfff5f529/scratchpad/build/icons/utensi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183380"/>
            <a:ext cx="374904" cy="374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66744" y="477316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Engineering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694176" y="508406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vs. Dogs — promote and cut.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419088" y="384048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383780" y="3995928"/>
            <a:ext cx="749808" cy="74980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36" name="Image 6" descr="/tmp/claude-0/-home-user-latham-tv-attribution/4810c7d6-79b4-53d1-9640-995cfff5f529/scratchpad/build/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4183380"/>
            <a:ext cx="374904" cy="3749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56248" y="477316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583680" y="508406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“Friday will do $4,200 — prep for it.”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308592" y="384048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273284" y="3995928"/>
            <a:ext cx="749808" cy="749808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41" name="Image 7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0736" y="4183380"/>
            <a:ext cx="374904" cy="37490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445752" y="4773168"/>
            <a:ext cx="2404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473184" y="5084064"/>
            <a:ext cx="2350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spikes and dips, flagged instantly.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114800"/>
            <a:ext cx="1280160" cy="1280160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518904" y="3666744"/>
            <a:ext cx="2176272" cy="2176272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006840" y="3154680"/>
            <a:ext cx="3200400" cy="3200400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552176" y="470001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Intelligence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data and camera data are useful apart. Combined, they answer questions no competitor — and no bookkeeper — can.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2926080"/>
            <a:ext cx="731520" cy="731520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1" name="Image 0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1089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03320" y="2606040"/>
            <a:ext cx="640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4315968" y="260604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8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08576" y="2926080"/>
            <a:ext cx="731520" cy="731520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7" name="Image 1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1089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58968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458968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379208" y="2606040"/>
            <a:ext cx="640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7991856" y="260604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84464" y="2926080"/>
            <a:ext cx="731520" cy="7315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3" name="Image 2" descr="/tmp/claude-0/-home-user-latham-tv-attribution/4810c7d6-79b4-53d1-9640-995cfff5f529/scratchpad/build/icons/fu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1089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34856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134856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nobody else has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34340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0120" y="4590288"/>
            <a:ext cx="914400" cy="91440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28" name="Image 3" descr="/tmp/claude-0/-home-user-latham-tv-attribution/4810c7d6-79b4-53d1-9640-995cfff5f529/scratchpad/build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818888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148840" y="452628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only Fusion can give:  </a:t>
            </a:r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foot traffic went </a:t>
            </a:r>
            <a:pPr algn="l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23%</a:t>
            </a:r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week, but revenue stayed flat — which means your </a:t>
            </a:r>
            <a:pPr algn="l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E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dropped</a:t>
            </a:r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More people came in and fewer bought. Here’s where.”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TO WALK INTO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Most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11680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6" name="Image 0" descr="/tmp/claude-0/-home-user-latham-tv-attribution/4810c7d6-79b4-53d1-9640-995cfff5f529/scratchpad/build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8998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margins, prep, rush hours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178308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39896" y="2011680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1" name="Image 1" descr="/tmp/claude-0/-home-user-latham-tv-attribution/4810c7d6-79b4-53d1-9640-995cfff5f529/scratchpad/build/icons/sm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04" y="218998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198424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Shops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9704" y="23500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traffic, thin margins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19088" y="178308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29400" y="2011680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6" name="Image 2" descr="/tmp/claude-0/-home-user-latham-tv-attribution/4810c7d6-79b4-53d1-9640-995cfff5f529/scratchpad/build/icons/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218998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9208" y="198424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79208" y="23500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time, walkouts, conversion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08592" y="178308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18904" y="2011680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1" name="Image 3" descr="/tmp/claude-0/-home-user-latham-tv-attribution/4810c7d6-79b4-53d1-9640-995cfff5f529/scratchpad/build/icons/bas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212" y="2189988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68712" y="198424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Bodegas &amp; C-stores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268712" y="23500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best-sellers, shrink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136392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0392" y="3364992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6" name="Image 4" descr="/tmp/claude-0/-home-user-latham-tv-attribution/4810c7d6-79b4-53d1-9640-995cfff5f529/scratchpad/build/icons/coff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543300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3375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600200" y="37033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rush, wait time, ticket size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29584" y="3136392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39896" y="3364992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31" name="Image 5" descr="/tmp/claude-0/-home-user-latham-tv-attribution/4810c7d6-79b4-53d1-9640-995cfff5f529/scratchpad/build/icons/martin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204" y="3543300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89704" y="33375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&amp; Lounges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489704" y="37033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nights, upsells, staffing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19088" y="3136392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629400" y="3364992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36" name="Image 6" descr="/tmp/claude-0/-home-user-latham-tv-attribution/4810c7d6-79b4-53d1-9640-995cfff5f529/scratchpad/build/icons/scisso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08" y="3543300"/>
            <a:ext cx="356616" cy="3566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79208" y="33375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379208" y="37033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service mix, no-shows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308592" y="3136392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518904" y="3364992"/>
            <a:ext cx="713232" cy="71323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41" name="Image 7" descr="/tmp/claude-0/-home-user-latham-tv-attribution/4810c7d6-79b4-53d1-9640-995cfff5f529/scratchpad/build/icons/ge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7212" y="3543300"/>
            <a:ext cx="356616" cy="35661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268712" y="33375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 Shops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10268712" y="37033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conversion, inventory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640080" y="4617720"/>
            <a:ext cx="10927080" cy="1234440"/>
          </a:xfrm>
          <a:prstGeom prst="roundRect">
            <a:avLst>
              <a:gd name="adj" fmla="val 7407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960120" y="4818888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6" name="Image 8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5860" y="5024628"/>
            <a:ext cx="411480" cy="4114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2057400" y="4800600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business with a POS and foot traffic. 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prospects: high walk-in volume, thin margins, and an owner who admits “I don’t really know my numbers.”</a:t>
            </a:r>
            <a:endParaRPr lang="en-US" sz="1450" dirty="0"/>
          </a:p>
        </p:txBody>
      </p:sp>
      <p:sp>
        <p:nvSpPr>
          <p:cNvPr id="48" name="Text 37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THAT CLOSES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Pays for Itself 10x 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8600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32004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month one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missing 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8600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10–20x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 60 days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 they pay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96596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28600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35440" y="32004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live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35440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hardware, no installs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663440"/>
            <a:ext cx="914400" cy="91440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2" name="Image 0" descr="/tmp/claude-0/-home-user-latham-tv-attribution/4810c7d6-79b4-53d1-9640-995cfff5f529/scratchpad/build/icons/s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89204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194560" y="461772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 Left on the Table” </a:t>
            </a:r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one number every owner remembers. </a:t>
            </a:r>
            <a:pPr algn="l"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score this month is $3,400. Let me show you exactly where it went.”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Plans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38728" cy="402336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2807208" cy="384048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81528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</a:t>
            </a:r>
            <a:pPr algn="ctr" indent="0" marL="0">
              <a:buNone/>
            </a:pPr>
            <a:r>
              <a:rPr lang="en-US" sz="15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/week</a:t>
            </a:r>
            <a:endParaRPr lang="en-US" sz="4000" dirty="0"/>
          </a:p>
        </p:txBody>
      </p:sp>
      <p:pic>
        <p:nvPicPr>
          <p:cNvPr id="9" name="Image 0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895344"/>
            <a:ext cx="173736" cy="1737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7947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analytics dashboard</a:t>
            </a:r>
            <a:endParaRPr lang="en-US" sz="1200" dirty="0"/>
          </a:p>
        </p:txBody>
      </p:sp>
      <p:pic>
        <p:nvPicPr>
          <p:cNvPr id="11" name="Image 1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352544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2519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1200" dirty="0"/>
          </a:p>
        </p:txBody>
      </p:sp>
      <p:pic>
        <p:nvPicPr>
          <p:cNvPr id="13" name="Image 2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09744"/>
            <a:ext cx="173736" cy="1737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7091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low-friction start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07992" y="1673352"/>
            <a:ext cx="3538728" cy="4251960"/>
          </a:xfrm>
          <a:prstGeom prst="roundRect">
            <a:avLst>
              <a:gd name="adj" fmla="val 2842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27000" dist="38100" dir="5400000">
              <a:srgbClr val="0A1428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73752" y="1993392"/>
            <a:ext cx="2807208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" name="Text 12"/>
          <p:cNvSpPr/>
          <p:nvPr/>
        </p:nvSpPr>
        <p:spPr>
          <a:xfrm>
            <a:off x="4873752" y="1993392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82312" y="2542032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782312" y="29718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pPr algn="ctr" indent="0" marL="0"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</a:t>
            </a:r>
            <a:endParaRPr lang="en-US" sz="4000" dirty="0"/>
          </a:p>
        </p:txBody>
      </p:sp>
      <p:pic>
        <p:nvPicPr>
          <p:cNvPr id="20" name="Image 3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785616"/>
            <a:ext cx="173736" cy="1737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93792" y="368503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Weekly</a:t>
            </a:r>
            <a:endParaRPr lang="en-US" sz="1200" dirty="0"/>
          </a:p>
        </p:txBody>
      </p:sp>
      <p:pic>
        <p:nvPicPr>
          <p:cNvPr id="22" name="Image 4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242816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93792" y="414223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 product insights</a:t>
            </a:r>
            <a:endParaRPr lang="en-US" sz="1200" dirty="0"/>
          </a:p>
        </p:txBody>
      </p:sp>
      <p:pic>
        <p:nvPicPr>
          <p:cNvPr id="24" name="Image 5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700016"/>
            <a:ext cx="173736" cy="17373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3792" y="459943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alerts</a:t>
            </a:r>
            <a:endParaRPr lang="en-US" sz="1200" dirty="0"/>
          </a:p>
        </p:txBody>
      </p:sp>
      <p:pic>
        <p:nvPicPr>
          <p:cNvPr id="26" name="Image 6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5157216"/>
            <a:ext cx="173736" cy="17373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93792" y="505663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 — first 50 FREE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8375904" y="1783080"/>
            <a:ext cx="3538728" cy="402336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8741664" y="2103120"/>
            <a:ext cx="2807208" cy="384048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30" name="Text 21"/>
          <p:cNvSpPr/>
          <p:nvPr/>
        </p:nvSpPr>
        <p:spPr>
          <a:xfrm>
            <a:off x="8741664" y="2103120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8650224" y="265176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32" name="Text 23"/>
          <p:cNvSpPr/>
          <p:nvPr/>
        </p:nvSpPr>
        <p:spPr>
          <a:xfrm>
            <a:off x="8650224" y="3081528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pPr algn="ctr" indent="0" marL="0">
              <a:buNone/>
            </a:pPr>
            <a:r>
              <a:rPr lang="en-US" sz="15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</a:t>
            </a:r>
            <a:endParaRPr lang="en-US" sz="4000" dirty="0"/>
          </a:p>
        </p:txBody>
      </p:sp>
      <p:pic>
        <p:nvPicPr>
          <p:cNvPr id="33" name="Image 7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7384" y="3895344"/>
            <a:ext cx="173736" cy="17373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61704" y="37947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</a:t>
            </a:r>
            <a:endParaRPr lang="en-US" sz="1200" dirty="0"/>
          </a:p>
        </p:txBody>
      </p:sp>
      <p:pic>
        <p:nvPicPr>
          <p:cNvPr id="35" name="Image 8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7384" y="4352544"/>
            <a:ext cx="173736" cy="17373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061704" y="42519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engine</a:t>
            </a:r>
            <a:endParaRPr lang="en-US" sz="1200" dirty="0"/>
          </a:p>
        </p:txBody>
      </p:sp>
      <p:pic>
        <p:nvPicPr>
          <p:cNvPr id="37" name="Image 9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7384" y="4809744"/>
            <a:ext cx="173736" cy="17373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061704" y="47091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engineering AI</a:t>
            </a:r>
            <a:endParaRPr lang="en-US" sz="1200" dirty="0"/>
          </a:p>
        </p:txBody>
      </p:sp>
      <p:pic>
        <p:nvPicPr>
          <p:cNvPr id="39" name="Image 10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7384" y="5266944"/>
            <a:ext cx="173736" cy="173736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9061704" y="51663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optimization + priority support</a:t>
            </a:r>
            <a:endParaRPr lang="en-US" sz="1200" dirty="0"/>
          </a:p>
        </p:txBody>
      </p:sp>
      <p:sp>
        <p:nvSpPr>
          <p:cNvPr id="41" name="Text 28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42" name="Text 29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BEFORE THEY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Every Owner 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9384"/>
            <a:ext cx="621792" cy="62179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6" name="Image 0" descr="/tmp/claude-0/-home-user-latham-tv-attribution/4810c7d6-79b4-53d1-9640-995cfff5f529/scratchpad/buil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848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4767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 buy or install anything?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32688" y="2514600"/>
            <a:ext cx="4818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at all. POS, cameras and analytics all connect through the website in minutes.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6318504" y="17830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4536" y="1929384"/>
            <a:ext cx="621792" cy="62179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1" name="Image 1" descr="/tmp/claude-0/-home-user-latham-tv-attribution/4810c7d6-79b4-53d1-9640-995cfff5f529/scratchpad/build/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848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06056" y="194767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 use a POS you’ve never heard of?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11112" y="2514600"/>
            <a:ext cx="4818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Square, Clover and Toast are one click. Any other POS with an API connects too — or the tech team wires it within 24 hours.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392424"/>
            <a:ext cx="621792" cy="62179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6" name="Image 2" descr="/tmp/claude-0/-home-user-latham-tv-attribution/4810c7d6-79b4-53d1-9640-995cfff5f529/scratchpad/build/icons/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478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41071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setup take?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32688" y="3977640"/>
            <a:ext cx="4818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minutes. The rep does it with you on the spot, then pulls your real data live.</a:t>
            </a:r>
            <a:endParaRPr lang="en-US" sz="1160" dirty="0"/>
          </a:p>
        </p:txBody>
      </p:sp>
      <p:sp>
        <p:nvSpPr>
          <p:cNvPr id="19" name="Shape 14"/>
          <p:cNvSpPr/>
          <p:nvPr/>
        </p:nvSpPr>
        <p:spPr>
          <a:xfrm>
            <a:off x="6318504" y="324612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4536" y="3392424"/>
            <a:ext cx="621792" cy="62179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1" name="Image 3" descr="/tmp/claude-0/-home-user-latham-tv-attribution/4810c7d6-79b4-53d1-9640-995cfff5f529/scratchpad/build/icons/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5478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06056" y="341071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cameras already?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611112" y="3977640"/>
            <a:ext cx="4818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security cameras, we connect to them. No cameras? POS Intelligence works on its own.</a:t>
            </a:r>
            <a:endParaRPr lang="en-US" sz="1160" dirty="0"/>
          </a:p>
        </p:txBody>
      </p:sp>
      <p:sp>
        <p:nvSpPr>
          <p:cNvPr id="24" name="Shape 18"/>
          <p:cNvSpPr/>
          <p:nvPr/>
        </p:nvSpPr>
        <p:spPr>
          <a:xfrm>
            <a:off x="640080" y="470916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855464"/>
            <a:ext cx="621792" cy="62179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6" name="Image 4" descr="/tmp/claude-0/-home-user-latham-tv-attribution/4810c7d6-79b4-53d1-9640-995cfff5f529/scratchpad/build/icons/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109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87375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contract?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32688" y="5440680"/>
            <a:ext cx="4818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Month-to-month or weekly. Cancel anytime with one click — no penalty.</a:t>
            </a:r>
            <a:endParaRPr lang="en-US" sz="1160" dirty="0"/>
          </a:p>
        </p:txBody>
      </p:sp>
      <p:sp>
        <p:nvSpPr>
          <p:cNvPr id="29" name="Shape 22"/>
          <p:cNvSpPr/>
          <p:nvPr/>
        </p:nvSpPr>
        <p:spPr>
          <a:xfrm>
            <a:off x="6318504" y="470916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74536" y="4855464"/>
            <a:ext cx="621792" cy="621792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31" name="Image 5" descr="/tmp/claude-0/-home-user-latham-tv-attribution/4810c7d6-79b4-53d1-9640-995cfff5f529/scratchpad/build/icons/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501091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06056" y="4873752"/>
            <a:ext cx="4197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actually work for MY business?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611112" y="5440680"/>
            <a:ext cx="4818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register and customers walking in, yes. We’ll show you your own numbers before you decide.</a:t>
            </a:r>
            <a:endParaRPr lang="en-US" sz="1160" dirty="0"/>
          </a:p>
        </p:txBody>
      </p:sp>
      <p:sp>
        <p:nvSpPr>
          <p:cNvPr id="34" name="Text 26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 RESPONSES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Objections · Part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3337560" cy="932688"/>
          </a:xfrm>
          <a:prstGeom prst="roundRect">
            <a:avLst>
              <a:gd name="adj" fmla="val 7843"/>
            </a:avLst>
          </a:prstGeom>
          <a:solidFill>
            <a:srgbClr val="0F1E3D"/>
          </a:solidFill>
          <a:ln/>
        </p:spPr>
      </p:sp>
      <p:sp>
        <p:nvSpPr>
          <p:cNvPr id="6" name="Shape 4"/>
          <p:cNvSpPr/>
          <p:nvPr/>
        </p:nvSpPr>
        <p:spPr>
          <a:xfrm>
            <a:off x="955548" y="2226564"/>
            <a:ext cx="502920" cy="5029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7" name="Image 0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249" y="234726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07568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too expensive.”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79392" y="1783080"/>
            <a:ext cx="457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46320" y="1965960"/>
            <a:ext cx="6492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clients find $2,000+ in missing revenue the first month — that’s 10x on $250. No contract, cancel anytime. If it doesn’t pay for itself, you’re out nothing.”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374136"/>
            <a:ext cx="109270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602736"/>
            <a:ext cx="3337560" cy="932688"/>
          </a:xfrm>
          <a:prstGeom prst="roundRect">
            <a:avLst>
              <a:gd name="adj" fmla="val 7843"/>
            </a:avLst>
          </a:prstGeom>
          <a:solidFill>
            <a:srgbClr val="0F1E3D"/>
          </a:solidFill>
          <a:ln/>
        </p:spPr>
      </p:sp>
      <p:sp>
        <p:nvSpPr>
          <p:cNvPr id="13" name="Shape 10"/>
          <p:cNvSpPr/>
          <p:nvPr/>
        </p:nvSpPr>
        <p:spPr>
          <a:xfrm>
            <a:off x="955548" y="3817620"/>
            <a:ext cx="502920" cy="5029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14" name="Image 1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9" y="393832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6192" y="366674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already track our sales.”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279392" y="3374136"/>
            <a:ext cx="457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46320" y="3557016"/>
            <a:ext cx="6492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know which hours are most profitable? Which items have the best margins? Which employee upsells most? That’s what Meridian shows — patterns you’d never catch by hand.”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965192"/>
            <a:ext cx="109270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5193792"/>
            <a:ext cx="3337560" cy="932688"/>
          </a:xfrm>
          <a:prstGeom prst="roundRect">
            <a:avLst>
              <a:gd name="adj" fmla="val 7843"/>
            </a:avLst>
          </a:prstGeom>
          <a:solidFill>
            <a:srgbClr val="0F1E3D"/>
          </a:solidFill>
          <a:ln/>
        </p:spPr>
      </p:sp>
      <p:sp>
        <p:nvSpPr>
          <p:cNvPr id="20" name="Shape 16"/>
          <p:cNvSpPr/>
          <p:nvPr/>
        </p:nvSpPr>
        <p:spPr>
          <a:xfrm>
            <a:off x="955548" y="5408676"/>
            <a:ext cx="502920" cy="5029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21" name="Image 2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9" y="5529377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36192" y="525780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think about it.”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279392" y="4965192"/>
            <a:ext cx="457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4846320" y="5148072"/>
            <a:ext cx="6492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“Totally fair — what specifically are you unsure about? Tell you what: let me set it up right now, try it a week. If it doesn’t blow you away, cancel free.”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 RESPONSES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Objections ·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3337560" cy="932688"/>
          </a:xfrm>
          <a:prstGeom prst="roundRect">
            <a:avLst>
              <a:gd name="adj" fmla="val 7843"/>
            </a:avLst>
          </a:prstGeom>
          <a:solidFill>
            <a:srgbClr val="0F1E3D"/>
          </a:solidFill>
          <a:ln/>
        </p:spPr>
      </p:sp>
      <p:sp>
        <p:nvSpPr>
          <p:cNvPr id="6" name="Shape 4"/>
          <p:cNvSpPr/>
          <p:nvPr/>
        </p:nvSpPr>
        <p:spPr>
          <a:xfrm>
            <a:off x="955548" y="2226564"/>
            <a:ext cx="502920" cy="5029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7" name="Image 0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249" y="234726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07568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not tech-savvy.”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79392" y="1783080"/>
            <a:ext cx="457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46320" y="1965960"/>
            <a:ext cx="6492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don’t need to be — I handle the whole setup right now, takes 5 minutes. After that you just check your phone like you check Instagram.”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374136"/>
            <a:ext cx="109270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602736"/>
            <a:ext cx="3337560" cy="932688"/>
          </a:xfrm>
          <a:prstGeom prst="roundRect">
            <a:avLst>
              <a:gd name="adj" fmla="val 7843"/>
            </a:avLst>
          </a:prstGeom>
          <a:solidFill>
            <a:srgbClr val="0F1E3D"/>
          </a:solidFill>
          <a:ln/>
        </p:spPr>
      </p:sp>
      <p:sp>
        <p:nvSpPr>
          <p:cNvPr id="13" name="Shape 10"/>
          <p:cNvSpPr/>
          <p:nvPr/>
        </p:nvSpPr>
        <p:spPr>
          <a:xfrm>
            <a:off x="955548" y="3817620"/>
            <a:ext cx="502920" cy="5029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14" name="Image 1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9" y="393832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6192" y="366674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want you accessing my data.”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279392" y="3374136"/>
            <a:ext cx="457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46320" y="3557016"/>
            <a:ext cx="6492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“100% read-only — we can never move money, change prices or touch anything. No camera video is ever stored. You disconnect with one click, anytime.”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965192"/>
            <a:ext cx="109270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5193792"/>
            <a:ext cx="3337560" cy="932688"/>
          </a:xfrm>
          <a:prstGeom prst="roundRect">
            <a:avLst>
              <a:gd name="adj" fmla="val 7843"/>
            </a:avLst>
          </a:prstGeom>
          <a:solidFill>
            <a:srgbClr val="0F1E3D"/>
          </a:solidFill>
          <a:ln/>
        </p:spPr>
      </p:sp>
      <p:sp>
        <p:nvSpPr>
          <p:cNvPr id="20" name="Shape 16"/>
          <p:cNvSpPr/>
          <p:nvPr/>
        </p:nvSpPr>
        <p:spPr>
          <a:xfrm>
            <a:off x="955548" y="5408676"/>
            <a:ext cx="502920" cy="502920"/>
          </a:xfrm>
          <a:prstGeom prst="ellipse">
            <a:avLst/>
          </a:prstGeom>
          <a:solidFill>
            <a:srgbClr val="EF4A5A"/>
          </a:solidFill>
          <a:ln/>
        </p:spPr>
      </p:sp>
      <p:pic>
        <p:nvPicPr>
          <p:cNvPr id="21" name="Image 2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9" y="5529377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36192" y="525780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talk to my partner.”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279392" y="4965192"/>
            <a:ext cx="457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4846320" y="5148072"/>
            <a:ext cx="6492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“Makes sense — let me send the proposal so you can share it. Can I follow up tomorrow? And remember, you can cancel anytime, so there’s zero risk to start today.”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DISARM THE BIGGEST FEAR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Private, Reversible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3872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42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3664" y="2217420"/>
            <a:ext cx="1051560" cy="1051560"/>
          </a:xfrm>
          <a:prstGeom prst="ellipse">
            <a:avLst/>
          </a:prstGeom>
          <a:solidFill>
            <a:srgbClr val="0E9E70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6" name="Image 0" descr="/tmp/claude-0/-home-user-latham-tv-attribution/4810c7d6-79b4-53d1-9640-995cfff5f529/scratchpad/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554" y="248031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Read-Only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can see the data but can never move money, change prices, or void a transaction. View-only, like a shared Google Doc.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07992" y="1874520"/>
            <a:ext cx="353872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428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51576" y="2217420"/>
            <a:ext cx="1051560" cy="1051560"/>
          </a:xfrm>
          <a:prstGeom prst="ellipse">
            <a:avLst/>
          </a:prstGeom>
          <a:solidFill>
            <a:srgbClr val="0F1E3D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11" name="Image 1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466" y="2480310"/>
            <a:ext cx="525780" cy="5257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2312" y="33832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Stored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73752" y="3794760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are processed privacy-first — no raw images or footage saved or sent anywhere. GDPR &amp; CCPA compliant.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75904" y="1874520"/>
            <a:ext cx="353872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428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19488" y="2217420"/>
            <a:ext cx="1051560" cy="105156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8000"/>
              </a:srgbClr>
            </a:outerShdw>
          </a:effectLst>
        </p:spPr>
      </p:sp>
      <p:pic>
        <p:nvPicPr>
          <p:cNvPr id="16" name="Image 2" descr="/tmp/claude-0/-home-user-latham-tv-attribution/4810c7d6-79b4-53d1-9640-995cfff5f529/scratchpad/build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378" y="2480310"/>
            <a:ext cx="525780" cy="5257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0224" y="33832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Out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741664" y="3794760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contract, ever. The owner revokes access or cancels anytime with a single click — all the control stays with them.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50292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get nervous, say:  </a:t>
            </a:r>
            <a:pPr algn="l"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of it like view-only access to a Google Doc — we can look, we can never change a thing, and you can shut it off in one click.”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2834640"/>
            <a:ext cx="1645920" cy="1645920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025128" y="2258568"/>
            <a:ext cx="2798064" cy="2798064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366760" y="1600200"/>
            <a:ext cx="4114800" cy="4114800"/>
          </a:xfrm>
          <a:prstGeom prst="ellipse">
            <a:avLst/>
          </a:prstGeom>
          <a:ln w="12700">
            <a:solidFill>
              <a:srgbClr val="263E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369296" y="360273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TO THE FLOOR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1234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Close Deals.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2683764"/>
            <a:ext cx="621792" cy="621792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0" name="Image 0" descr="/tmp/claude-0/-home-user-latham-tv-attribution/4810c7d6-79b4-53d1-9640-995cfff5f529/scratchpad/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83921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26426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one-liner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783080" y="29900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cameras + AI = where you’re losing money.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55080" y="251460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92824" y="2683764"/>
            <a:ext cx="621792" cy="621792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5" name="Image 1" descr="/tmp/claude-0/-home-user-latham-tv-attribution/4810c7d6-79b4-53d1-9640-995cfff5f529/scratchpad/build/icons/phones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83921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6426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not a phone agent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315200" y="29900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business; it doesn’t answer calls.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2960" y="365760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60704" y="3826764"/>
            <a:ext cx="621792" cy="621792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0" name="Image 2" descr="/tmp/claude-0/-home-user-latham-tv-attribution/4810c7d6-79b4-53d1-9640-995cfff5f529/scratchpad/build/icons/s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398221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37856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money found, not price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783080" y="41330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 in, $2,000+ back — 10x, zero risk, cancel anytime.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55080" y="365760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92824" y="3826764"/>
            <a:ext cx="621792" cy="621792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5" name="Image 3" descr="/tmp/claude-0/-home-user-latham-tv-attribution/4810c7d6-79b4-53d1-9640-995cfff5f529/scratchpad/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98221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37856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Disarm early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315200" y="41330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no video stored, one-click out.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22960" y="5074920"/>
            <a:ext cx="10561320" cy="868680"/>
          </a:xfrm>
          <a:prstGeom prst="roundRect">
            <a:avLst>
              <a:gd name="adj" fmla="val 10526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507492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hardware. No installs. Everything through the website.   </a:t>
            </a:r>
            <a:pPr algn="ctr" indent="0" marL="0">
              <a:buNone/>
            </a:pPr>
            <a:r>
              <a:rPr lang="en-US" sz="1600" b="1" dirty="0">
                <a:solidFill>
                  <a:srgbClr val="0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INTELLIGENCE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86400" y="6455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2026-07-29T04:37:13Z</dcterms:created>
  <dcterms:modified xsi:type="dcterms:W3CDTF">2026-07-29T04:37:13Z</dcterms:modified>
</cp:coreProperties>
</file>