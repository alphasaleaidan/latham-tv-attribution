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the room: this session is about understanding the PRODUCT — what Meridian is and everything it offers — not a closing script. Three systems in one platform: an AI phone agent, camera intelligence, and POS analytics, all built for the Canadian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one-liner is verbatim from the product. Land the 'three inputs' idea early — phone, cameras, register — because the rest of the deck is just those three explained. The CFO-24/7 line is the product's own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to give reps. Three inputs, one brain, one screen. When they explain Meridian to a merchant, they should always come back to this picture. The combined-source insight (Fusion) is what makes it more than the sum of the parts — covered in a few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— it's the capability a merchant feels on day one. Every missed call is a missed order; the agent answers all of them, takes the order, sends it to the POS, and collects payment by text. Bilingual EN/FR is a real differentiator in Canada. It's included on Premium and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product's own numbers. The point for the room: this isn't a novelty — unanswered calls are lost orders, and most callers won't wait or call back. The agent turns those into captured, paid orders. Billing detail lives on the pricing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reps must nail here: (1) no hardware is shipped — merchants connect existing cameras (Hikvision, Dahua, Reolink, UniFi, Axis) in minutes; (2) privacy — nothing is recorded, no faces, counts only. That privacy stance is what keeps it clean under Law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depth beneath the phone agent. The Money-Left score is the hero — one dollar figure the owner checks daily. The eight engines are how it's calculated. The rule that makes Meridian different: it never just shows a chart — it says what to do and attaches a dollar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Fusion is why the three systems live in one platform instead of three tools. The 23%-traffic example is the canonical one — rehearse it. It's also the honest answer to 'my POS already reports sales': your POS can't see who walked in and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it back to the owner's experience: they don't run reports, they glance at a phone. One score, plain-language actions with dollars, alerts when something breaks, and a weekly email. That simplicity is the product — enterprise analytics that feel like checking a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how it connects removes the biggest fear. POS is one-click OAuth and read-only. Cameras use existing hardware. The phone number is auto-provisioned and forwards from their current line. Toast is real but scheduled — never promise same-day Toast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Meridian ships industry templates for these verticals, so the insights are tuned per business type. The split to remember: phone-order businesses value the agent most; retail/foot-traffic businesses value the cameras most; the analytics engine helps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 is a feature in Canada, not fine print. PIPEDA and Law 25 are built into the product — consent flows, a Privacy Officer, breach timelines, and a camera design that avoids biometrics. One honest caveat if asked: data is processed on US infrastructure under DPAs and transfer assessments, not stored in Canada.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concept: pricing isn't gated on analytics — everyone gets the full engine and cameras. The phone agent is the axis. Standard is analytics-only; Premium adds the agent; Command lowers the per-order fee and adds multi-location + an account manager. Calls: 3 min included, then CA$0.45/min, capped.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making sure everyone can say it in one breath: Meridian answers the phone, watches the floor, and reads the register — for Canadian businesses. If a rep can explain those three plus the Money-Left score, they understand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6.png"/><Relationship Id="rId7" Type="http://schemas.openxmlformats.org/officeDocument/2006/relationships/image" Target="../media/image-10-2.png"/><Relationship Id="rId8" Type="http://schemas.openxmlformats.org/officeDocument/2006/relationships/image" Target="../media/image-10-2.png"/><Relationship Id="rId9" Type="http://schemas.openxmlformats.org/officeDocument/2006/relationships/image" Target="../media/image-10-2.png"/><Relationship Id="rId10" Type="http://schemas.openxmlformats.org/officeDocument/2006/relationships/image" Target="../media/image-10-2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2.png"/><Relationship Id="rId13" Type="http://schemas.openxmlformats.org/officeDocument/2006/relationships/image" Target="../media/image-10-2.png"/><Relationship Id="rId14" Type="http://schemas.openxmlformats.org/officeDocument/2006/relationships/image" Target="../media/image-10-2.png"/><Relationship Id="rId15" Type="http://schemas.openxmlformats.org/officeDocument/2006/relationships/image" Target="../media/image-10-2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image" Target="../media/image-13-1.png"/><Relationship Id="rId8" Type="http://schemas.openxmlformats.org/officeDocument/2006/relationships/image" Target="../media/image-13-1.png"/><Relationship Id="rId9" Type="http://schemas.openxmlformats.org/officeDocument/2006/relationships/image" Target="../media/image-13-1.png"/><Relationship Id="rId10" Type="http://schemas.openxmlformats.org/officeDocument/2006/relationships/image" Target="../media/image-13-1.png"/><Relationship Id="rId11" Type="http://schemas.openxmlformats.org/officeDocument/2006/relationships/image" Target="../media/image-13-1.png"/><Relationship Id="rId12" Type="http://schemas.openxmlformats.org/officeDocument/2006/relationships/image" Target="../media/image-13-1.png"/><Relationship Id="rId13" Type="http://schemas.openxmlformats.org/officeDocument/2006/relationships/image" Target="../media/image-13-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914400"/>
            <a:ext cx="4206240" cy="4206240"/>
          </a:xfrm>
          <a:prstGeom prst="ellipse">
            <a:avLst/>
          </a:prstGeom>
          <a:solidFill>
            <a:srgbClr val="263E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554480"/>
            <a:ext cx="2926080" cy="2926080"/>
          </a:xfrm>
          <a:prstGeom prst="ellipse">
            <a:avLst/>
          </a:prstGeom>
          <a:solidFill>
            <a:srgbClr val="263E6B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240280"/>
            <a:ext cx="1554480" cy="15544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5" name="Image 0" descr="/tmp/claude-0/-home-user-latham-tv-attribution/4810c7d6-79b4-53d1-9640-995cfff5f529/scratchpad/build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0" y="26289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058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TRAINING  ·  CANADA EDITION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" y="141732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Meridian Is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What It Offers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platform that answers your phone, watches your floor, and reads your register — then tells you, in dollars, where you're leaving money behind.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693469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16934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Phone Agent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45029" y="4892040"/>
            <a:ext cx="2187245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5029" y="4892040"/>
            <a:ext cx="21872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60874" y="4892040"/>
            <a:ext cx="1594714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0874" y="4892040"/>
            <a:ext cx="1594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Analytics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Canada  ·  PIPEDA &amp; Quebec Law 25  ·  CAD  ·  Bilingual EN / FR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Meridian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27080" cy="1600200"/>
          </a:xfrm>
          <a:prstGeom prst="roundRect">
            <a:avLst>
              <a:gd name="adj" fmla="val 6857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connects to your 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register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your 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your 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line</a:t>
            </a:r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uses AI to show you exactly where your business is losing money — and how to fix 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75104" y="3744468"/>
            <a:ext cx="868680" cy="868680"/>
          </a:xfrm>
          <a:prstGeom prst="ellipse">
            <a:avLst/>
          </a:prstGeom>
          <a:solidFill>
            <a:srgbClr val="0E9E70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9" name="Image 0" descr="/tmp/claude-0/-home-user-latham-tv-attribution/4810c7d6-79b4-53d1-9640-995cfff5f529/scratchpad/build/icons/phone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274" y="3961638"/>
            <a:ext cx="434340" cy="4343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6634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your phone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60120" y="5029200"/>
            <a:ext cx="2898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voice agent takes every call and every order, 24/7.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07992" y="361188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43016" y="3744468"/>
            <a:ext cx="868680" cy="868680"/>
          </a:xfrm>
          <a:prstGeom prst="ellipse">
            <a:avLst/>
          </a:prstGeom>
          <a:solidFill>
            <a:srgbClr val="1B2E52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14" name="Image 1" descr="/tmp/claude-0/-home-user-latham-tv-attribution/4810c7d6-79b4-53d1-9640-995cfff5f529/scratchpad/build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186" y="3961638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82312" y="46634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your floor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828032" y="5029200"/>
            <a:ext cx="2898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cameras become live foot-traffic analytics.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375904" y="361188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710928" y="3744468"/>
            <a:ext cx="868680" cy="86868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19" name="Image 2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098" y="3961638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50224" y="46634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register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695944" y="5029200"/>
            <a:ext cx="2898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data becomes actions, forecasts and a dollar score.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difference:  </a:t>
            </a:r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 tells you </a:t>
            </a:r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Meridian tells you </a:t>
            </a:r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pPr indent="0" marL="0">
              <a:buNone/>
            </a:pPr>
            <a:r>
              <a:rPr lang="en-US" sz="14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the dollar amount attached. Like a CFO who watches 24/7.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Systems, One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Meridian offers flows into one place — where the AI combines all three sources into insights none of them could give alone.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711196"/>
            <a:ext cx="749808" cy="74980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7" name="Image 0" descr="/tmp/claude-0/-home-user-latham-tv-attribution/4810c7d6-79b4-53d1-9640-995cfff5f529/scratchpad/build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89864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73936" y="27614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Phone Agent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73936" y="3127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&amp; orders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67912" y="24688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51376" y="2711196"/>
            <a:ext cx="749808" cy="74980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2" name="Image 1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28" y="289864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27614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01768" y="3127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traffic &amp; conversion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95744" y="246888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79208" y="2711196"/>
            <a:ext cx="749808" cy="74980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7" name="Image 2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898648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7614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Analytics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0" y="3127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products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3794760"/>
            <a:ext cx="10104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     ↓        ↓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640080" y="4343400"/>
            <a:ext cx="10378440" cy="1371600"/>
          </a:xfrm>
          <a:prstGeom prst="roundRect">
            <a:avLst>
              <a:gd name="adj" fmla="val 8000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840" y="4572000"/>
            <a:ext cx="914400" cy="91440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3" name="Image 3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8006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194560" y="452628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dashboard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the “Money Left on the Table” score, plus every insight with what to do and what it's worth in CAD.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OWNERS FEEL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Phone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55280" y="841248"/>
            <a:ext cx="3611880" cy="640080"/>
          </a:xfrm>
          <a:prstGeom prst="roundRect">
            <a:avLst>
              <a:gd name="adj" fmla="val 50000"/>
            </a:avLst>
          </a:prstGeom>
          <a:solidFill>
            <a:srgbClr val="0F1E3D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841248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call. Never miss an order.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00253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8" name="Image 0" descr="/tmp/claude-0/-home-user-latham-tv-attribution/4810c7d6-79b4-53d1-9640-995cfff5f529/scratchpad/build/icons/phone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128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965960"/>
            <a:ext cx="3904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every call in under 2 seconds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920240" y="25328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24/7, no staff needed — rush hour, after-hours, holidays.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18504" y="17830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11112" y="200253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3" name="Image 1" descr="/tmp/claude-0/-home-user-latham-tv-attribution/4810c7d6-79b4-53d1-9640-995cfff5f529/scratchpad/build/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128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98664" y="1965960"/>
            <a:ext cx="3904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order conversationally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598664" y="25328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naturally, handles the full order, then confirms 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24612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" y="346557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8" name="Image 2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758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3429000"/>
            <a:ext cx="3904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order straight to the POS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920240" y="3995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lands in Square, Clover or Toast automatically.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18504" y="324612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11112" y="346557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3" name="Image 3" descr="/tmp/claude-0/-home-user-latham-tv-attribution/4810c7d6-79b4-53d1-9640-995cfff5f529/scratchpad/build/icons/rece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36758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98664" y="3429000"/>
            <a:ext cx="3904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a secure pay-by-text link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598664" y="3995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pays by text — no card read over the phone.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" y="470916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32688" y="492861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8" name="Image 4" descr="/tmp/claude-0/-home-user-latham-tv-attribution/4810c7d6-79b4-53d1-9640-995cfff5f529/scratchpad/build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138928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20240" y="4892040"/>
            <a:ext cx="3904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appointments &amp; gives estimates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920240" y="54589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salons, spas and services — captures the job, not just the call.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318504" y="470916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11112" y="492861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33" name="Image 5" descr="/tmp/claude-0/-home-user-latham-tv-attribution/4810c7d6-79b4-53d1-9640-995cfff5f529/scratchpad/build/icons/langu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5138928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598664" y="4892040"/>
            <a:ext cx="3904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— English &amp; French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7598664" y="54589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fr-CA voice for Quebec and francophone callers.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PHONE AGENT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Call Is Missed Revenue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CA$3,240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month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missed calls/day × $18 ticket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4028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31546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wait on hold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84448" y="35204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who hang up instead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4028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31546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phone orders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9088" y="35204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AI phone agent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0" y="1874520"/>
            <a:ext cx="2615184" cy="2194560"/>
          </a:xfrm>
          <a:prstGeom prst="roundRect">
            <a:avLst>
              <a:gd name="adj" fmla="val 4167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240280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35440" y="31546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53728" y="352044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ring, day or night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663440"/>
            <a:ext cx="914400" cy="91440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2" name="Image 0" descr="/tmp/claude-0/-home-user-latham-tv-attribution/4810c7d6-79b4-53d1-9640-995cfff5f529/scratchpad/build/icons/clockro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89204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194560" y="461772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Premium &amp; Command.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works the calls no one has time for — the after-hours order, the rush-hour overflow, the second line ringing while staff serve the counter.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CAMERAS YOU ALREADY OWN INTO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25396"/>
            <a:ext cx="749808" cy="74980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6" name="Image 0" descr="/tmp/claude-0/-home-user-latham-tv-attribution/4810c7d6-79b4-53d1-9640-995cfff5f529/scratchpad/build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02536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Traffic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3682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“312 entered today, 187 bought.”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07992" y="1783080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025396"/>
            <a:ext cx="749808" cy="74980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11" name="Image 1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221284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5272" y="2002536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605272" y="23682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vs. sales — 52% → 60%.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75904" y="1783080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22792" y="2025396"/>
            <a:ext cx="749808" cy="74980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16" name="Image 2" descr="/tmp/claude-0/-home-user-latham-tv-attribution/4810c7d6-79b4-53d1-9640-995cfff5f529/scratchpad/build/icons/do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244" y="221284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73184" y="2002536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Walkout Detection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473184" y="23682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Entered, didn't buy — with $ lost.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18688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6968" y="3461004"/>
            <a:ext cx="749808" cy="74980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21" name="Image 3" descr="/tmp/claude-0/-home-user-latham-tv-attribution/4810c7d6-79b4-53d1-9640-995cfff5f529/scratchpad/build/icons/fi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648456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343814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Peak-Hours Heatmap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737360" y="380390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times by hour &amp; weekday.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07992" y="3218688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3461004"/>
            <a:ext cx="749808" cy="74980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26" name="Image 4" descr="/tmp/claude-0/-home-user-latham-tv-attribution/4810c7d6-79b4-53d1-9640-995cfff5f529/scratchpad/build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3648456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05272" y="343814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&amp; Wait Time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605272" y="380390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linger, when lines build.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75904" y="3218688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22792" y="3461004"/>
            <a:ext cx="749808" cy="74980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31" name="Image 5" descr="/tmp/claude-0/-home-user-latham-tv-attribution/4810c7d6-79b4-53d1-9640-995cfff5f529/scratchpad/build/icons/personray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244" y="3648456"/>
            <a:ext cx="374904" cy="374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73184" y="343814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Monitoring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473184" y="380390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the line runs too long.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617720"/>
            <a:ext cx="5367528" cy="1188720"/>
          </a:xfrm>
          <a:prstGeom prst="roundRect">
            <a:avLst>
              <a:gd name="adj" fmla="val 7692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05256" y="4837176"/>
            <a:ext cx="749808" cy="74980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6" name="Image 6" descr="/tmp/claude-0/-home-user-latham-tv-attribution/4810c7d6-79b4-53d1-9640-995cfff5f529/scratchpad/build/icons/wandsparkl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" y="5024628"/>
            <a:ext cx="374904" cy="3749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828800" y="4754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shipped.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cameras you already have — scan the sticker or sign into your camera app.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6199632" y="4617720"/>
            <a:ext cx="5367528" cy="1188720"/>
          </a:xfrm>
          <a:prstGeom prst="roundRect">
            <a:avLst>
              <a:gd name="adj" fmla="val 7692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464808" y="4837176"/>
            <a:ext cx="749808" cy="74980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0" name="Image 7" descr="/tmp/claude-0/-home-user-latham-tv-attribution/4810c7d6-79b4-53d1-9640-995cfff5f529/scratchpad/build/icons/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2260" y="5024628"/>
            <a:ext cx="374904" cy="37490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388352" y="4754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Privacy-first.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stored or sent to the cloud, no facial recognition — designed to sit outside Quebec Law 25's biometric scope.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— EVERY INSIGHT, IN DOLLARS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Analytics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977640"/>
          </a:xfrm>
          <a:prstGeom prst="roundRect">
            <a:avLst>
              <a:gd name="adj" fmla="val 2933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988820"/>
            <a:ext cx="1051560" cy="105156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6" name="Image 0" descr="/tmp/claude-0/-home-user-latham-tv-attribution/4810c7d6-79b4-53d1-9640-995cfff5f529/scratchpad/build/icons/s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690" y="225171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Left on the Table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CA$3,229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4407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found per merchant, monthly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800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headline number — a roll-up of underpricing, dead stock, understaffed peaks, discount leakage and scheduling gaps, each with a fix.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783080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1144" y="1933956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3" name="Image 1" descr="/tmp/claude-0/-home-user-latham-tv-attribution/4810c7d6-79b4-53d1-9640-995cfff5f529/scratchpad/build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07568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78308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55864" y="1783080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1933956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7" name="Image 2" descr="/tmp/claude-0/-home-user-latham-tv-attribution/4810c7d6-79b4-53d1-9640-995cfff5f529/scratchpad/build/icons/bagshop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07568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88552" y="178308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297680" y="2807208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81144" y="2958084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1" name="Image 3" descr="/tmp/claude-0/-home-user-latham-tv-attribution/4810c7d6-79b4-53d1-9640-995cfff5f529/scratchpad/build/icons/arrow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309981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30368" y="28072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055864" y="2807208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339328" y="2958084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5" name="Image 4" descr="/tmp/claude-0/-home-user-latham-tv-attribution/4810c7d6-79b4-53d1-9640-995cfff5f529/scratchpad/build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3099816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88552" y="280720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297680" y="3831336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81144" y="3982212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9" name="Image 5" descr="/tmp/claude-0/-home-user-latham-tv-attribution/4810c7d6-79b4-53d1-9640-995cfff5f529/scratchpad/build/icons/scalebalanc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876" y="4123944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30368" y="3831336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You-vs-Industry Benchmark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8055864" y="3831336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39328" y="3982212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33" name="Image 6" descr="/tmp/claude-0/-home-user-latham-tv-attribution/4810c7d6-79b4-53d1-9640-995cfff5f529/scratchpad/build/icons/wandsparkl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4123944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88552" y="3831336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4297680" y="4855464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4581144" y="5006340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37" name="Image 7" descr="/tmp/claude-0/-home-user-latham-tv-attribution/4810c7d6-79b4-53d1-9640-995cfff5f529/scratchpad/build/icons/utensil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2876" y="5148072"/>
            <a:ext cx="283464" cy="28346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230368" y="4855464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Engineering</a:t>
            </a:r>
            <a:endParaRPr lang="en-US" sz="1350" dirty="0"/>
          </a:p>
        </p:txBody>
      </p:sp>
      <p:sp>
        <p:nvSpPr>
          <p:cNvPr id="39" name="Shape 29"/>
          <p:cNvSpPr/>
          <p:nvPr/>
        </p:nvSpPr>
        <p:spPr>
          <a:xfrm>
            <a:off x="8055864" y="4855464"/>
            <a:ext cx="353872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50800" dist="38100" dir="5400000">
              <a:srgbClr val="0A1428">
                <a:alpha val="9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8339328" y="5006340"/>
            <a:ext cx="566928" cy="56692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41" name="Image 8" descr="/tmp/claude-0/-home-user-latham-tv-attribution/4810c7d6-79b4-53d1-9640-995cfff5f529/scratchpad/build/icons/receip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1060" y="5148072"/>
            <a:ext cx="283464" cy="28346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988552" y="4855464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P&amp;L + COGS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4297680" y="5870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answers three things:  </a:t>
            </a:r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 ·  what to do  ·  what it's worth in CAD.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NO SINGLE SOURCE CAN GIVE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real edge is combining all three sources. Sales, foot traffic and calls together answer questions none of them can alone.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31720" cy="1280160"/>
          </a:xfrm>
          <a:prstGeom prst="roundRect">
            <a:avLst>
              <a:gd name="adj" fmla="val 7143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651760"/>
            <a:ext cx="731520" cy="731520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7" name="Image 0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834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90088" y="251460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474720" y="2514600"/>
            <a:ext cx="2331720" cy="1280160"/>
          </a:xfrm>
          <a:prstGeom prst="roundRect">
            <a:avLst>
              <a:gd name="adj" fmla="val 7143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4820" y="2651760"/>
            <a:ext cx="731520" cy="731520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2" name="Image 1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824728" y="251460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6309360" y="2514600"/>
            <a:ext cx="2331720" cy="1280160"/>
          </a:xfrm>
          <a:prstGeom prst="roundRect">
            <a:avLst>
              <a:gd name="adj" fmla="val 7143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09460" y="2651760"/>
            <a:ext cx="731520" cy="731520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7" name="Image 2" descr="/tmp/claude-0/-home-user-latham-tv-attribution/4810c7d6-79b4-53d1-9640-995cfff5f529/scratchpad/build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834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75320" y="251460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869680" y="25146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0" y="2788920"/>
            <a:ext cx="731520" cy="7315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2" name="Image 3" descr="/tmp/claude-0/-home-user-latham-tv-attribution/4810c7d6-79b4-53d1-9640-995cfff5f529/scratchpad/build/icons/wandspark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9718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66960" y="251460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nobody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can show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297680"/>
            <a:ext cx="10927080" cy="1463040"/>
          </a:xfrm>
          <a:prstGeom prst="roundRect">
            <a:avLst>
              <a:gd name="adj" fmla="val 6250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5840" y="4572000"/>
            <a:ext cx="914400" cy="91440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26" name="Image 4" descr="/tmp/claude-0/-home-user-latham-tv-attribution/4810c7d6-79b4-53d1-9640-995cfff5f529/scratchpad/build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8006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94560" y="44805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foot traffic went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23%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week, but revenue stayed flat — so your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dropped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More people came in, fewer bought. Here's where.”  Only Meridian sees across all three.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LANDS IN THE OWNER'S HANDS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on Their Phone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02536"/>
            <a:ext cx="841248" cy="84124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6" name="Image 0" descr="/tmp/claude-0/-home-user-latham-tv-attribution/4810c7d6-79b4-53d1-9640-995cfff5f529/scratchpad/build/icons/s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128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Money-Left score, up top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3317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dollar figure every morning — is it going up or down?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318504" y="17830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002536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1" name="Image 1" descr="/tmp/claude-0/-home-user-latham-tv-attribution/4810c7d6-79b4-53d1-9640-995cfff5f529/scratchpad/build/icons/circle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128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8664" y="1965960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is an action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98664" y="23317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chart — a specific move, with the CAD value of doing it.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640080" y="3264408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3483864"/>
            <a:ext cx="841248" cy="84124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16" name="Image 2" descr="/tmp/claude-0/-home-user-latham-tv-attribution/4810c7d6-79b4-53d1-9640-995cfff5f529/scratchpad/build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9417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447288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20240" y="38130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ping the moment revenue dips, voids spike or a line runs long.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318504" y="3264408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483864"/>
            <a:ext cx="841248" cy="84124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1" name="Image 3" descr="/tmp/claude-0/-home-user-latham-tv-attribution/4810c7d6-79b4-53d1-9640-995cfff5f529/scratchpad/build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369417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8664" y="3447288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report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98664" y="38130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digest emailed every week — no logging in.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640080" y="4745736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2688" y="4965192"/>
            <a:ext cx="841248" cy="841248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6" name="Image 4" descr="/tmp/claude-0/-home-user-latham-tv-attribution/4810c7d6-79b4-53d1-9640-995cfff5f529/scratchpad/build/icons/arrowtr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175504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20240" y="4928616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forecast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920240" y="5294376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sales and demand so they can staff and order ahead.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6318504" y="4745736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11112" y="4965192"/>
            <a:ext cx="841248" cy="841248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31" name="Image 5" descr="/tmp/claude-0/-home-user-latham-tv-attribution/4810c7d6-79b4-53d1-9640-995cfff5f529/scratchpad/build/icons/scalebalanc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5175504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98664" y="4928616"/>
            <a:ext cx="3904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stack up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598664" y="5294376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You-vs-Industry scorecard against similar Canadian businesses.</a:t>
            </a:r>
            <a:endParaRPr lang="en-US" sz="118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ABOUT 5 MINUTES — NOTHING TO INSTALL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38728" cy="379476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88900" dist="38100" dir="5400000">
              <a:srgbClr val="0A1428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6524" y="2057400"/>
            <a:ext cx="1005840" cy="1005840"/>
          </a:xfrm>
          <a:prstGeom prst="ellipse">
            <a:avLst/>
          </a:prstGeom>
          <a:solidFill>
            <a:srgbClr val="0E9E70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6" name="Image 0" descr="/tmp/claude-0/-home-user-latham-tv-attribution/4810c7d6-79b4-53d1-9640-995cfff5f529/scratchpad/build/icon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23088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546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</a:t>
            </a:r>
            <a:endParaRPr lang="en-US" sz="1800" dirty="0"/>
          </a:p>
        </p:txBody>
      </p:sp>
      <p:pic>
        <p:nvPicPr>
          <p:cNvPr id="8" name="Image 1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730752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36301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One-click, read-only connection</a:t>
            </a:r>
            <a:endParaRPr lang="en-US" sz="1150" dirty="0"/>
          </a:p>
        </p:txBody>
      </p:sp>
      <p:pic>
        <p:nvPicPr>
          <p:cNvPr id="10" name="Image 2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87952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40873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✓ live · Clover ✓ live</a:t>
            </a:r>
            <a:endParaRPr lang="en-US" sz="1150" dirty="0"/>
          </a:p>
        </p:txBody>
      </p:sp>
      <p:pic>
        <p:nvPicPr>
          <p:cNvPr id="12" name="Image 3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45152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1872" y="45445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— approved partner (scheduled)</a:t>
            </a:r>
            <a:endParaRPr lang="en-US" sz="1150" dirty="0"/>
          </a:p>
        </p:txBody>
      </p:sp>
      <p:pic>
        <p:nvPicPr>
          <p:cNvPr id="14" name="Image 4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102352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1872" y="50017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via daily CSV import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4507992" y="1783080"/>
            <a:ext cx="3538728" cy="379476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88900" dist="38100" dir="5400000">
              <a:srgbClr val="0A1428">
                <a:alpha val="13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774436" y="2057400"/>
            <a:ext cx="1005840" cy="1005840"/>
          </a:xfrm>
          <a:prstGeom prst="ellipse">
            <a:avLst/>
          </a:prstGeom>
          <a:solidFill>
            <a:srgbClr val="1B2E52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18" name="Image 5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2308860"/>
            <a:ext cx="502920" cy="5029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82312" y="31546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Cameras</a:t>
            </a:r>
            <a:endParaRPr lang="en-US" sz="1800" dirty="0"/>
          </a:p>
        </p:txBody>
      </p:sp>
      <p:pic>
        <p:nvPicPr>
          <p:cNvPr id="20" name="Image 6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730752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9784" y="36301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cameras you own</a:t>
            </a:r>
            <a:endParaRPr lang="en-US" sz="1150" dirty="0"/>
          </a:p>
        </p:txBody>
      </p:sp>
      <p:pic>
        <p:nvPicPr>
          <p:cNvPr id="22" name="Image 7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187952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29784" y="40873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sticker, or sign in</a:t>
            </a:r>
            <a:endParaRPr lang="en-US" sz="1150" dirty="0"/>
          </a:p>
        </p:txBody>
      </p:sp>
      <p:pic>
        <p:nvPicPr>
          <p:cNvPr id="24" name="Image 8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752" y="4645152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9784" y="45445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box shipped, no wiring</a:t>
            </a:r>
            <a:endParaRPr lang="en-US" sz="1150" dirty="0"/>
          </a:p>
        </p:txBody>
      </p:sp>
      <p:pic>
        <p:nvPicPr>
          <p:cNvPr id="26" name="Image 9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752" y="5102352"/>
            <a:ext cx="164592" cy="16459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29784" y="50017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only — no video stored</a:t>
            </a:r>
            <a:endParaRPr lang="en-US" sz="1150" dirty="0"/>
          </a:p>
        </p:txBody>
      </p:sp>
      <p:sp>
        <p:nvSpPr>
          <p:cNvPr id="28" name="Shape 16"/>
          <p:cNvSpPr/>
          <p:nvPr/>
        </p:nvSpPr>
        <p:spPr>
          <a:xfrm>
            <a:off x="8375904" y="1783080"/>
            <a:ext cx="3538728" cy="379476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88900" dist="38100" dir="5400000">
              <a:srgbClr val="0A1428">
                <a:alpha val="13000"/>
              </a:srgbClr>
            </a:outerShdw>
          </a:effectLst>
        </p:spPr>
      </p:sp>
      <p:sp>
        <p:nvSpPr>
          <p:cNvPr id="29" name="Shape 17"/>
          <p:cNvSpPr/>
          <p:nvPr/>
        </p:nvSpPr>
        <p:spPr>
          <a:xfrm>
            <a:off x="9642348" y="2057400"/>
            <a:ext cx="1005840" cy="1005840"/>
          </a:xfrm>
          <a:prstGeom prst="ellipse">
            <a:avLst/>
          </a:prstGeom>
          <a:solidFill>
            <a:srgbClr val="F5A524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30" name="Image 10" descr="/tmp/claude-0/-home-user-latham-tv-attribution/4810c7d6-79b4-53d1-9640-995cfff5f529/scratchpad/build/icons/phonevolum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93808" y="2308860"/>
            <a:ext cx="502920" cy="50292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650224" y="31546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</a:t>
            </a:r>
            <a:endParaRPr lang="en-US" sz="1800" dirty="0"/>
          </a:p>
        </p:txBody>
      </p:sp>
      <p:pic>
        <p:nvPicPr>
          <p:cNvPr id="32" name="Image 11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1664" y="3730752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997696" y="36301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number is auto-created</a:t>
            </a:r>
            <a:endParaRPr lang="en-US" sz="1150" dirty="0"/>
          </a:p>
        </p:txBody>
      </p:sp>
      <p:pic>
        <p:nvPicPr>
          <p:cNvPr id="34" name="Image 12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41664" y="4187952"/>
            <a:ext cx="164592" cy="16459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8997696" y="40873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your existing line to it</a:t>
            </a:r>
            <a:endParaRPr lang="en-US" sz="1150" dirty="0"/>
          </a:p>
        </p:txBody>
      </p:sp>
      <p:pic>
        <p:nvPicPr>
          <p:cNvPr id="36" name="Image 13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41664" y="4645152"/>
            <a:ext cx="164592" cy="16459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8997696" y="45445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minutes</a:t>
            </a:r>
            <a:endParaRPr lang="en-US" sz="1150" dirty="0"/>
          </a:p>
        </p:txBody>
      </p:sp>
      <p:pic>
        <p:nvPicPr>
          <p:cNvPr id="38" name="Image 14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41664" y="5102352"/>
            <a:ext cx="164592" cy="164592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8997696" y="5001768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FR out of the box</a:t>
            </a:r>
            <a:endParaRPr lang="en-US" sz="1150" dirty="0"/>
          </a:p>
        </p:txBody>
      </p:sp>
      <p:sp>
        <p:nvSpPr>
          <p:cNvPr id="40" name="Text 2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always.  </a:t>
            </a:r>
            <a:pPr indent="0" marL="0"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can view the data but can never move money, change prices, or touch anything in the merchant's systems.</a:t>
            </a:r>
            <a:endParaRPr lang="en-US" sz="1350" dirty="0"/>
          </a:p>
        </p:txBody>
      </p:sp>
      <p:sp>
        <p:nvSpPr>
          <p:cNvPr id="41" name="Text 2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42" name="Text 25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43" name="Text 2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MERIDIAN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6" name="Image 0" descr="/tmp/claude-0/-home-user-latham-tv-attribution/4810c7d6-79b4-53d1-9640-995cfff5f529/scratchpad/build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984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91056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&amp; after-hours orders, menu margins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529584" y="17830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30752" y="20299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11" name="Image 1" descr="/tmp/claude-0/-home-user-latham-tv-attribution/4810c7d6-79b4-53d1-9640-995cfff5f529/scratchpad/build/icons/cof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1984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staffing, wait time, ticket size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419088" y="17830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20256" y="20299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16" name="Image 2" descr="/tmp/claude-0/-home-user-latham-tv-attribution/4810c7d6-79b4-53d1-9640-995cfff5f529/scratchpad/build/icons/marti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203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0064" y="1984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&amp; Lounges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370064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nights, upsells, staffing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9308592" y="17830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0" y="20299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21" name="Image 3" descr="/tmp/claude-0/-home-user-latham-tv-attribution/4810c7d6-79b4-53d1-9640-995cfff5f529/scratchpad/build/icons/smo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496" y="22037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59568" y="19842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Shops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259568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traffic, thin margins, mix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640080" y="31546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34015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26" name="Image 4" descr="/tmp/claude-0/-home-user-latham-tv-attribution/4810c7d6-79b4-53d1-9640-995cfff5f529/scratchpad/build/icons/bas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5753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91056" y="33558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91056" y="3703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size, category mix, volume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3529584" y="31546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30752" y="34015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31" name="Image 5" descr="/tmp/claude-0/-home-user-latham-tv-attribution/4810c7d6-79b4-53d1-9640-995cfff5f529/scratchpad/build/icons/scisso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357530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80560" y="33558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&amp; Spas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480560" y="3703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calls, estimates, no-shows</a:t>
            </a:r>
            <a:endParaRPr lang="en-US" sz="1030" dirty="0"/>
          </a:p>
        </p:txBody>
      </p:sp>
      <p:sp>
        <p:nvSpPr>
          <p:cNvPr id="34" name="Shape 26"/>
          <p:cNvSpPr/>
          <p:nvPr/>
        </p:nvSpPr>
        <p:spPr>
          <a:xfrm>
            <a:off x="6419088" y="31546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620256" y="34015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36" name="Image 6" descr="/tmp/claude-0/-home-user-latham-tv-attribution/4810c7d6-79b4-53d1-9640-995cfff5f529/scratchpad/build/icons/b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3575304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70064" y="33558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370064" y="3703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Dwell, walkouts, conversion</a:t>
            </a:r>
            <a:endParaRPr lang="en-US" sz="1030" dirty="0"/>
          </a:p>
        </p:txBody>
      </p:sp>
      <p:sp>
        <p:nvSpPr>
          <p:cNvPr id="39" name="Shape 30"/>
          <p:cNvSpPr/>
          <p:nvPr/>
        </p:nvSpPr>
        <p:spPr>
          <a:xfrm>
            <a:off x="9308592" y="3154680"/>
            <a:ext cx="267919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63500" dist="38100" dir="5400000">
              <a:srgbClr val="0A1428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509760" y="3401568"/>
            <a:ext cx="694944" cy="694944"/>
          </a:xfrm>
          <a:prstGeom prst="ellipse">
            <a:avLst/>
          </a:prstGeom>
          <a:solidFill>
            <a:srgbClr val="1B2E52"/>
          </a:solidFill>
          <a:ln/>
        </p:spPr>
      </p:sp>
      <p:pic>
        <p:nvPicPr>
          <p:cNvPr id="41" name="Image 7" descr="/tmp/claude-0/-home-user-latham-tv-attribution/4810c7d6-79b4-53d1-9640-995cfff5f529/scratchpad/build/icons/buildingsto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3496" y="3575304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259568" y="335584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 business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10259568" y="3703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Dispensaries, bakeries, grocery…</a:t>
            </a:r>
            <a:endParaRPr lang="en-US" sz="1030" dirty="0"/>
          </a:p>
        </p:txBody>
      </p:sp>
      <p:sp>
        <p:nvSpPr>
          <p:cNvPr id="44" name="Shape 34"/>
          <p:cNvSpPr/>
          <p:nvPr/>
        </p:nvSpPr>
        <p:spPr>
          <a:xfrm>
            <a:off x="640080" y="461772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969264" y="4809744"/>
            <a:ext cx="804672" cy="804672"/>
          </a:xfrm>
          <a:prstGeom prst="ellipse">
            <a:avLst/>
          </a:prstGeom>
          <a:solidFill>
            <a:srgbClr val="D42B3A"/>
          </a:solidFill>
          <a:ln/>
        </p:spPr>
      </p:sp>
      <p:pic>
        <p:nvPicPr>
          <p:cNvPr id="46" name="Image 8" descr="/tmp/claude-0/-home-user-latham-tv-attribution/4810c7d6-79b4-53d1-9640-995cfff5f529/scratchpad/build/icons/maplelea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2385" y="5002865"/>
            <a:ext cx="418429" cy="418429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2011680" y="4773168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Canadian business with a POS and customers walking in or calling.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Phone-heavy shops lean on the agent; foot-traffic shops lean on the cameras; everyone gets the Money-Left score.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274320"/>
            <a:ext cx="2194560" cy="2194560"/>
          </a:xfrm>
          <a:prstGeom prst="ellipse">
            <a:avLst/>
          </a:prstGeom>
          <a:solidFill>
            <a:srgbClr val="D42B3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914400"/>
            <a:ext cx="914400" cy="914400"/>
          </a:xfrm>
          <a:prstGeom prst="ellipse">
            <a:avLst/>
          </a:prstGeom>
          <a:solidFill>
            <a:srgbClr val="D42B3A"/>
          </a:solidFill>
          <a:ln/>
        </p:spPr>
      </p:sp>
      <p:pic>
        <p:nvPicPr>
          <p:cNvPr id="4" name="Image 0" descr="/tmp/claude-0/-home-user-latham-tv-attribution/4810c7d6-79b4-53d1-9640-995cfff5f529/scratchpad/build/icons/maple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143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US TOOL WITH A MAPLE LEAF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Canada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05256" y="2075688"/>
            <a:ext cx="786384" cy="786384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9" name="Image 1" descr="/tmp/claude-0/-home-user-latham-tv-attribution/4810c7d6-79b4-53d1-9640-995cfff5f529/scratchpad/buil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227228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47088" y="1993392"/>
            <a:ext cx="3995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compliant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847088" y="23408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fair-information principles, plus access, correction and deletion rights within 30 days.</a:t>
            </a:r>
            <a:endParaRPr lang="en-US" sz="1130" dirty="0"/>
          </a:p>
        </p:txBody>
      </p:sp>
      <p:sp>
        <p:nvSpPr>
          <p:cNvPr id="12" name="Shape 8"/>
          <p:cNvSpPr/>
          <p:nvPr/>
        </p:nvSpPr>
        <p:spPr>
          <a:xfrm>
            <a:off x="6318504" y="182880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83680" y="2075688"/>
            <a:ext cx="786384" cy="786384"/>
          </a:xfrm>
          <a:prstGeom prst="ellipse">
            <a:avLst/>
          </a:prstGeom>
          <a:solidFill>
            <a:srgbClr val="D42B3A"/>
          </a:solidFill>
          <a:ln/>
        </p:spPr>
      </p:sp>
      <p:pic>
        <p:nvPicPr>
          <p:cNvPr id="14" name="Image 2" descr="/tmp/claude-0/-home-user-latham-tv-attribution/4810c7d6-79b4-53d1-9640-995cfff5f529/scratchpad/build/icons/scalebalanc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272284"/>
            <a:ext cx="393192" cy="3931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25512" y="1993392"/>
            <a:ext cx="3995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Quebec Law 25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525512" y="23408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consent, a designated Privacy Officer, and 72-hour breach notice to the CAI.</a:t>
            </a:r>
            <a:endParaRPr lang="en-US" sz="1130" dirty="0"/>
          </a:p>
        </p:txBody>
      </p:sp>
      <p:sp>
        <p:nvSpPr>
          <p:cNvPr id="17" name="Shape 12"/>
          <p:cNvSpPr/>
          <p:nvPr/>
        </p:nvSpPr>
        <p:spPr>
          <a:xfrm>
            <a:off x="640080" y="329184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05256" y="3538728"/>
            <a:ext cx="786384" cy="786384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9" name="Image 3" descr="/tmp/claude-0/-home-user-latham-tv-attribution/4810c7d6-79b4-53d1-9640-995cfff5f529/scratchpad/build/icons/vide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" y="3735324"/>
            <a:ext cx="393192" cy="3931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47088" y="3456432"/>
            <a:ext cx="3995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outside biometric scope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847088" y="38039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only, no faces, no video stored — engineered to stay clear of Law 25 biometrics.</a:t>
            </a:r>
            <a:endParaRPr lang="en-US" sz="1130" dirty="0"/>
          </a:p>
        </p:txBody>
      </p:sp>
      <p:sp>
        <p:nvSpPr>
          <p:cNvPr id="22" name="Shape 16"/>
          <p:cNvSpPr/>
          <p:nvPr/>
        </p:nvSpPr>
        <p:spPr>
          <a:xfrm>
            <a:off x="6318504" y="329184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83680" y="3538728"/>
            <a:ext cx="786384" cy="786384"/>
          </a:xfrm>
          <a:prstGeom prst="ellipse">
            <a:avLst/>
          </a:prstGeom>
          <a:solidFill>
            <a:srgbClr val="D42B3A"/>
          </a:solidFill>
          <a:ln/>
        </p:spPr>
      </p:sp>
      <p:pic>
        <p:nvPicPr>
          <p:cNvPr id="24" name="Image 4" descr="/tmp/claude-0/-home-user-latham-tv-attribution/4810c7d6-79b4-53d1-9640-995cfff5f529/scratchpad/build/icons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76" y="3735324"/>
            <a:ext cx="393192" cy="3931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25512" y="3456432"/>
            <a:ext cx="3995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CASL-compliant email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525512" y="38039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commercial email is consent-gated with a working unsubscribe and record-keeping.</a:t>
            </a:r>
            <a:endParaRPr lang="en-US" sz="1130" dirty="0"/>
          </a:p>
        </p:txBody>
      </p:sp>
      <p:sp>
        <p:nvSpPr>
          <p:cNvPr id="27" name="Shape 20"/>
          <p:cNvSpPr/>
          <p:nvPr/>
        </p:nvSpPr>
        <p:spPr>
          <a:xfrm>
            <a:off x="640080" y="47548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05256" y="5001768"/>
            <a:ext cx="786384" cy="786384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9" name="Image 5" descr="/tmp/claude-0/-home-user-latham-tv-attribution/4810c7d6-79b4-53d1-9640-995cfff5f529/scratchpad/build/icons/s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" y="5198364"/>
            <a:ext cx="393192" cy="3931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847088" y="4919472"/>
            <a:ext cx="3995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billing, end to end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1847088" y="526694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price, invoice and dollar insight is in Canadian dollars, en-CA.</a:t>
            </a:r>
            <a:endParaRPr lang="en-US" sz="1130" dirty="0"/>
          </a:p>
        </p:txBody>
      </p:sp>
      <p:sp>
        <p:nvSpPr>
          <p:cNvPr id="32" name="Shape 24"/>
          <p:cNvSpPr/>
          <p:nvPr/>
        </p:nvSpPr>
        <p:spPr>
          <a:xfrm>
            <a:off x="6318504" y="4754880"/>
            <a:ext cx="5367528" cy="1280160"/>
          </a:xfrm>
          <a:prstGeom prst="roundRect">
            <a:avLst>
              <a:gd name="adj" fmla="val 6429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583680" y="5001768"/>
            <a:ext cx="786384" cy="786384"/>
          </a:xfrm>
          <a:prstGeom prst="ellipse">
            <a:avLst/>
          </a:prstGeom>
          <a:solidFill>
            <a:srgbClr val="D42B3A"/>
          </a:solidFill>
          <a:ln/>
        </p:spPr>
      </p:sp>
      <p:pic>
        <p:nvPicPr>
          <p:cNvPr id="34" name="Image 6" descr="/tmp/claude-0/-home-user-latham-tv-attribution/4810c7d6-79b4-53d1-9640-995cfff5f529/scratchpad/build/icons/langu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276" y="5198364"/>
            <a:ext cx="393192" cy="3931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25512" y="4919472"/>
            <a:ext cx="3995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English &amp; French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7525512" y="526694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fr-CA phone voice and French support for Quebec and francophone markets.</a:t>
            </a:r>
            <a:endParaRPr lang="en-US" sz="1130" dirty="0"/>
          </a:p>
        </p:txBody>
      </p:sp>
      <p:sp>
        <p:nvSpPr>
          <p:cNvPr id="37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PRICING — CANADA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Is Full Analytics + Cameras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38728" cy="393192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75688"/>
            <a:ext cx="2807208" cy="384048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75688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CA$350</a:t>
            </a:r>
            <a:pPr algn="ctr" indent="0" marL="0">
              <a:buNone/>
            </a:pPr>
            <a:r>
              <a:rPr lang="en-US" sz="15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3400" dirty="0"/>
          </a:p>
        </p:txBody>
      </p:sp>
      <p:pic>
        <p:nvPicPr>
          <p:cNvPr id="9" name="Image 0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867912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76732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analytics + forecasting</a:t>
            </a:r>
            <a:endParaRPr lang="en-US" sz="1150" dirty="0"/>
          </a:p>
        </p:txBody>
      </p:sp>
      <p:pic>
        <p:nvPicPr>
          <p:cNvPr id="11" name="Image 1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27939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17880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intelligence</a:t>
            </a:r>
            <a:endParaRPr lang="en-US" sz="1150" dirty="0"/>
          </a:p>
        </p:txBody>
      </p:sp>
      <p:pic>
        <p:nvPicPr>
          <p:cNvPr id="13" name="Image 2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690872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5902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engineering &amp; alerts</a:t>
            </a:r>
            <a:endParaRPr lang="en-US" sz="1150" dirty="0"/>
          </a:p>
        </p:txBody>
      </p:sp>
      <p:pic>
        <p:nvPicPr>
          <p:cNvPr id="15" name="Image 3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10235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500176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per-order fee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005840" y="5413248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phone agent —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507992" y="1673352"/>
            <a:ext cx="3538728" cy="4160520"/>
          </a:xfrm>
          <a:prstGeom prst="roundRect">
            <a:avLst>
              <a:gd name="adj" fmla="val 2842"/>
            </a:avLst>
          </a:prstGeom>
          <a:solidFill>
            <a:srgbClr val="0F1E3D"/>
          </a:solidFill>
          <a:ln/>
          <a:effectLst>
            <a:outerShdw sx="100000" sy="100000" kx="0" ky="0" algn="bl" rotWithShape="0" blurRad="127000" dist="38100" dir="5400000">
              <a:srgbClr val="0A1428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73752" y="1965960"/>
            <a:ext cx="2807208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0" name="Text 14"/>
          <p:cNvSpPr/>
          <p:nvPr/>
        </p:nvSpPr>
        <p:spPr>
          <a:xfrm>
            <a:off x="4873752" y="1965960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782312" y="2496312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782312" y="2953512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CA$500</a:t>
            </a:r>
            <a:pPr algn="ctr" indent="0" marL="0"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3400" dirty="0"/>
          </a:p>
        </p:txBody>
      </p:sp>
      <p:pic>
        <p:nvPicPr>
          <p:cNvPr id="23" name="Image 4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758184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93792" y="36576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</a:t>
            </a:r>
            <a:endParaRPr lang="en-US" sz="1150" dirty="0"/>
          </a:p>
        </p:txBody>
      </p:sp>
      <p:pic>
        <p:nvPicPr>
          <p:cNvPr id="25" name="Image 5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169664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93792" y="406908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phone agent + pay-by-text</a:t>
            </a:r>
            <a:endParaRPr lang="en-US" sz="1150" dirty="0"/>
          </a:p>
        </p:txBody>
      </p:sp>
      <p:pic>
        <p:nvPicPr>
          <p:cNvPr id="27" name="Image 6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4581144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93792" y="448056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CA$1.99 Meridian fee per order</a:t>
            </a:r>
            <a:endParaRPr lang="en-US" sz="1150" dirty="0"/>
          </a:p>
        </p:txBody>
      </p:sp>
      <p:pic>
        <p:nvPicPr>
          <p:cNvPr id="29" name="Image 7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992624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93792" y="489204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Calls: 3 min incl., then CA$0.45/min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4873752" y="5303520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(calls capped at 5 min)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8375904" y="1783080"/>
            <a:ext cx="3538728" cy="393192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76200" dist="38100" dir="5400000">
              <a:srgbClr val="0A1428">
                <a:alpha val="12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8741664" y="2075688"/>
            <a:ext cx="2807208" cy="384048"/>
          </a:xfrm>
          <a:prstGeom prst="roundRect">
            <a:avLst>
              <a:gd name="adj" fmla="val 50000"/>
            </a:avLst>
          </a:prstGeom>
          <a:solidFill>
            <a:srgbClr val="E4ECFA"/>
          </a:solidFill>
          <a:ln/>
        </p:spPr>
      </p:sp>
      <p:sp>
        <p:nvSpPr>
          <p:cNvPr id="34" name="Text 24"/>
          <p:cNvSpPr/>
          <p:nvPr/>
        </p:nvSpPr>
        <p:spPr>
          <a:xfrm>
            <a:off x="8741664" y="2075688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8650224" y="260604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2000" dirty="0"/>
          </a:p>
        </p:txBody>
      </p:sp>
      <p:sp>
        <p:nvSpPr>
          <p:cNvPr id="36" name="Text 26"/>
          <p:cNvSpPr/>
          <p:nvPr/>
        </p:nvSpPr>
        <p:spPr>
          <a:xfrm>
            <a:off x="8650224" y="306324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CA$700</a:t>
            </a:r>
            <a:pPr algn="ctr" indent="0" marL="0">
              <a:buNone/>
            </a:pPr>
            <a:r>
              <a:rPr lang="en-US" sz="15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3400" dirty="0"/>
          </a:p>
        </p:txBody>
      </p:sp>
      <p:pic>
        <p:nvPicPr>
          <p:cNvPr id="37" name="Image 8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7384" y="3867912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061704" y="376732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Premium</a:t>
            </a:r>
            <a:endParaRPr lang="en-US" sz="1150" dirty="0"/>
          </a:p>
        </p:txBody>
      </p:sp>
      <p:pic>
        <p:nvPicPr>
          <p:cNvPr id="39" name="Image 9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7384" y="4279392"/>
            <a:ext cx="164592" cy="16459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061704" y="417880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per-order fee — CA$1.39</a:t>
            </a:r>
            <a:endParaRPr lang="en-US" sz="1150" dirty="0"/>
          </a:p>
        </p:txBody>
      </p:sp>
      <p:pic>
        <p:nvPicPr>
          <p:cNvPr id="41" name="Image 10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7384" y="4690872"/>
            <a:ext cx="164592" cy="16459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9061704" y="45902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support</a:t>
            </a:r>
            <a:endParaRPr lang="en-US" sz="1150" dirty="0"/>
          </a:p>
        </p:txBody>
      </p:sp>
      <p:pic>
        <p:nvPicPr>
          <p:cNvPr id="43" name="Image 11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7384" y="5102352"/>
            <a:ext cx="164592" cy="16459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9061704" y="500176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50" dirty="0"/>
          </a:p>
        </p:txBody>
      </p:sp>
      <p:pic>
        <p:nvPicPr>
          <p:cNvPr id="45" name="Image 12" descr="/tmp/claude-0/-home-user-latham-tv-attribution/4810c7d6-79b4-53d1-9640-995cfff5f529/scratchpad/build/icons/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7384" y="5513832"/>
            <a:ext cx="164592" cy="16459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9061704" y="541324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 terms as Premium</a:t>
            </a:r>
            <a:endParaRPr lang="en-US" sz="1150" dirty="0"/>
          </a:p>
        </p:txBody>
      </p:sp>
      <p:sp>
        <p:nvSpPr>
          <p:cNvPr id="47" name="Text 32"/>
          <p:cNvSpPr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axis:  </a:t>
            </a:r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includes the full analytics engine and camera intelligence — the phone agent (and the per-order fee) is what separates the plans.</a:t>
            </a:r>
            <a:endParaRPr lang="en-US" sz="1250" dirty="0"/>
          </a:p>
        </p:txBody>
      </p:sp>
      <p:sp>
        <p:nvSpPr>
          <p:cNvPr id="48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50" name="Text 3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645920"/>
            <a:ext cx="4023360" cy="4023360"/>
          </a:xfrm>
          <a:prstGeom prst="ellipse">
            <a:avLst/>
          </a:prstGeom>
          <a:solidFill>
            <a:srgbClr val="263E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2331720"/>
            <a:ext cx="2651760" cy="2651760"/>
          </a:xfrm>
          <a:prstGeom prst="ellipse">
            <a:avLst/>
          </a:prstGeom>
          <a:solidFill>
            <a:srgbClr val="263E6B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2971800"/>
            <a:ext cx="1371600" cy="13716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25400" dir="5400000">
              <a:srgbClr val="0A1428">
                <a:alpha val="26000"/>
              </a:srgbClr>
            </a:outerShdw>
          </a:effectLst>
        </p:spPr>
      </p:sp>
      <p:pic>
        <p:nvPicPr>
          <p:cNvPr id="5" name="Image 0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820" y="33147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9144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" y="1234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Meridian Is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24688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0704" y="2619756"/>
            <a:ext cx="658368" cy="65836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0" name="Image 1" descr="/tmp/claude-0/-home-user-latham-tv-attribution/4810c7d6-79b4-53d1-9640-995cfff5f529/scratchpad/build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27843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596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the phone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828800" y="2944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takes every call &amp; order, 24/7 — bilingual EN/FR.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55080" y="24688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92824" y="2619756"/>
            <a:ext cx="658368" cy="65836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15" name="Image 2" descr="/tmp/claude-0/-home-user-latham-tv-attribution/4810c7d6-79b4-53d1-9640-995cfff5f529/scratchpad/build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7843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60920" y="2596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the floor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60920" y="2944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cameras become traffic, conversion &amp; walkout data.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36118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60704" y="3762756"/>
            <a:ext cx="658368" cy="658368"/>
          </a:xfrm>
          <a:prstGeom prst="ellipse">
            <a:avLst/>
          </a:prstGeom>
          <a:solidFill>
            <a:srgbClr val="0E9E70"/>
          </a:solidFill>
          <a:ln/>
        </p:spPr>
      </p:sp>
      <p:pic>
        <p:nvPicPr>
          <p:cNvPr id="20" name="Image 3" descr="/tmp/claude-0/-home-user-latham-tv-attribution/4810c7d6-79b4-53d1-9640-995cfff5f529/scratchpad/build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39273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3739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register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828800" y="4087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becomes the Money-Left score with actions, in CAD.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55080" y="36118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1B2E52"/>
          </a:solidFill>
          <a:ln w="12700">
            <a:solidFill>
              <a:srgbClr val="263E6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592824" y="3762756"/>
            <a:ext cx="658368" cy="658368"/>
          </a:xfrm>
          <a:prstGeom prst="ellipse">
            <a:avLst/>
          </a:prstGeom>
          <a:solidFill>
            <a:srgbClr val="D42B3A"/>
          </a:solidFill>
          <a:ln/>
        </p:spPr>
      </p:sp>
      <p:pic>
        <p:nvPicPr>
          <p:cNvPr id="25" name="Image 4" descr="/tmp/claude-0/-home-user-latham-tv-attribution/4810c7d6-79b4-53d1-9640-995cfff5f529/scratchpad/build/icons/maplele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9273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3739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for Canada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360920" y="4087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PIPEDA, Quebec Law 25, CASL, CAD, English &amp; French.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2960" y="5029200"/>
            <a:ext cx="10561320" cy="868680"/>
          </a:xfrm>
          <a:prstGeom prst="roundRect">
            <a:avLst>
              <a:gd name="adj" fmla="val 10526"/>
            </a:avLst>
          </a:prstGeom>
          <a:solidFill>
            <a:srgbClr val="0E9E70"/>
          </a:solidFill>
          <a:ln/>
          <a:effectLst>
            <a:outerShdw sx="100000" sy="100000" kx="0" ky="0" algn="bl" rotWithShape="0" blurRad="114300" dist="38100" dir="5400000">
              <a:srgbClr val="0A1428">
                <a:alpha val="2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822960" y="50292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systems. One dashboard. One number that tells a Canadian owner where the money went.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AI POS ANALYTICS — CANADA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7607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meridian.tips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2026-07-29T04:53:11Z</dcterms:created>
  <dcterms:modified xsi:type="dcterms:W3CDTF">2026-07-29T04:53:11Z</dcterms:modified>
</cp:coreProperties>
</file>